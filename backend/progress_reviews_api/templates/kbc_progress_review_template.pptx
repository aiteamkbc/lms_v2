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8288000" cy="10287000"/>
  <p:notesSz cx="6858000" cy="9144000"/>
  <p:embeddedFontLst>
    <p:embeddedFont>
      <p:font typeface="Aptos Bold" panose="020B0604020202020204" charset="0"/>
      <p:regular r:id="rId21"/>
    </p:embeddedFont>
    <p:embeddedFont>
      <p:font typeface="Calibri (MS)" panose="020B0604020202020204" charset="0"/>
      <p:regular r:id="rId22"/>
    </p:embeddedFont>
    <p:embeddedFont>
      <p:font typeface="Calibri (MS)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kbc_clean_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301990"/>
            <a:ext cx="2608078" cy="1211894"/>
            <a:chOff x="0" y="0"/>
            <a:chExt cx="3477438" cy="1615859"/>
          </a:xfrm>
        </p:grpSpPr>
        <p:sp>
          <p:nvSpPr>
            <p:cNvPr id="5" name="Freeform 5" descr="kbc_logo_transparent.png"/>
            <p:cNvSpPr/>
            <p:nvPr/>
          </p:nvSpPr>
          <p:spPr>
            <a:xfrm>
              <a:off x="0" y="0"/>
              <a:ext cx="3477387" cy="1615821"/>
            </a:xfrm>
            <a:custGeom>
              <a:avLst/>
              <a:gdLst/>
              <a:ahLst/>
              <a:cxnLst/>
              <a:rect l="l" t="t" r="r" b="b"/>
              <a:pathLst>
                <a:path w="3477387" h="1615821">
                  <a:moveTo>
                    <a:pt x="0" y="0"/>
                  </a:moveTo>
                  <a:lnTo>
                    <a:pt x="3477387" y="0"/>
                  </a:lnTo>
                  <a:lnTo>
                    <a:pt x="3477387" y="1615821"/>
                  </a:lnTo>
                  <a:lnTo>
                    <a:pt x="0" y="1615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893500" y="384353"/>
            <a:ext cx="2539441" cy="428530"/>
            <a:chOff x="0" y="0"/>
            <a:chExt cx="3385922" cy="571373"/>
          </a:xfrm>
        </p:grpSpPr>
        <p:sp>
          <p:nvSpPr>
            <p:cNvPr id="7" name="Freeform 7" descr="spinnaker_logo_transparent.png"/>
            <p:cNvSpPr/>
            <p:nvPr/>
          </p:nvSpPr>
          <p:spPr>
            <a:xfrm>
              <a:off x="0" y="0"/>
              <a:ext cx="3385947" cy="571373"/>
            </a:xfrm>
            <a:custGeom>
              <a:avLst/>
              <a:gdLst/>
              <a:ahLst/>
              <a:cxnLst/>
              <a:rect l="l" t="t" r="r" b="b"/>
              <a:pathLst>
                <a:path w="3385947" h="571373">
                  <a:moveTo>
                    <a:pt x="0" y="0"/>
                  </a:moveTo>
                  <a:lnTo>
                    <a:pt x="3385947" y="0"/>
                  </a:lnTo>
                  <a:lnTo>
                    <a:pt x="3385947" y="571373"/>
                  </a:lnTo>
                  <a:lnTo>
                    <a:pt x="0" y="571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0" y="9540069"/>
            <a:ext cx="18301840" cy="754971"/>
            <a:chOff x="0" y="0"/>
            <a:chExt cx="24402453" cy="10066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402414" cy="1006602"/>
            </a:xfrm>
            <a:custGeom>
              <a:avLst/>
              <a:gdLst/>
              <a:ahLst/>
              <a:cxnLst/>
              <a:rect l="l" t="t" r="r" b="b"/>
              <a:pathLst>
                <a:path w="24402414" h="1006602">
                  <a:moveTo>
                    <a:pt x="0" y="0"/>
                  </a:moveTo>
                  <a:lnTo>
                    <a:pt x="24402414" y="0"/>
                  </a:lnTo>
                  <a:lnTo>
                    <a:pt x="24402414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083149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372676" y="1990373"/>
            <a:ext cx="15373931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84"/>
              </a:lnSpc>
            </a:pPr>
            <a:r>
              <a:rPr lang="en-US" sz="5153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Progress Review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2676" y="2882608"/>
            <a:ext cx="15373931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51" b="1">
                <a:solidFill>
                  <a:srgbClr val="5D49D8"/>
                </a:solidFill>
                <a:latin typeface="Aptos Bold"/>
                <a:ea typeface="Aptos Bold"/>
                <a:cs typeface="Aptos Bold"/>
                <a:sym typeface="Aptos Bold"/>
              </a:rPr>
              <a:t>Marketing Executive Level 4 Apprenticeship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738199" y="3904964"/>
            <a:ext cx="12848787" cy="3102807"/>
            <a:chOff x="0" y="0"/>
            <a:chExt cx="17131716" cy="41370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131666" cy="4137025"/>
            </a:xfrm>
            <a:custGeom>
              <a:avLst/>
              <a:gdLst/>
              <a:ahLst/>
              <a:cxnLst/>
              <a:rect l="l" t="t" r="r" b="b"/>
              <a:pathLst>
                <a:path w="17131666" h="4137025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16442182" y="0"/>
                  </a:lnTo>
                  <a:cubicBezTo>
                    <a:pt x="16823055" y="0"/>
                    <a:pt x="17131666" y="308737"/>
                    <a:pt x="17131666" y="689483"/>
                  </a:cubicBezTo>
                  <a:lnTo>
                    <a:pt x="17131666" y="3447542"/>
                  </a:lnTo>
                  <a:cubicBezTo>
                    <a:pt x="17131666" y="3828415"/>
                    <a:pt x="16822928" y="4137025"/>
                    <a:pt x="16442182" y="4137025"/>
                  </a:cubicBezTo>
                  <a:lnTo>
                    <a:pt x="689483" y="4137025"/>
                  </a:lnTo>
                  <a:cubicBezTo>
                    <a:pt x="308737" y="4137025"/>
                    <a:pt x="0" y="3828415"/>
                    <a:pt x="0" y="344754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6693470" y="4273210"/>
            <a:ext cx="493823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3"/>
              </a:lnSpc>
            </a:pPr>
            <a:r>
              <a:rPr lang="en-US" sz="3502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Bethanie-Taylor Grenfell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57147" y="4872990"/>
            <a:ext cx="12010882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1"/>
              </a:lnSpc>
            </a:pPr>
            <a:r>
              <a:rPr lang="en-US" sz="22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Employer: Spinnaker Global Limited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57147" y="5316445"/>
            <a:ext cx="1201088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Manager: Helen McCaughran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57147" y="5792676"/>
            <a:ext cx="1201088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Review period: April, May and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kbc_clean_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233353"/>
            <a:ext cx="2264912" cy="1052436"/>
            <a:chOff x="0" y="0"/>
            <a:chExt cx="3019882" cy="1403248"/>
          </a:xfrm>
        </p:grpSpPr>
        <p:sp>
          <p:nvSpPr>
            <p:cNvPr id="5" name="Freeform 5" descr="kbc_logo_transparent.png"/>
            <p:cNvSpPr/>
            <p:nvPr/>
          </p:nvSpPr>
          <p:spPr>
            <a:xfrm>
              <a:off x="0" y="0"/>
              <a:ext cx="3019933" cy="1403223"/>
            </a:xfrm>
            <a:custGeom>
              <a:avLst/>
              <a:gdLst/>
              <a:ahLst/>
              <a:cxnLst/>
              <a:rect l="l" t="t" r="r" b="b"/>
              <a:pathLst>
                <a:path w="3019933" h="1403223">
                  <a:moveTo>
                    <a:pt x="0" y="0"/>
                  </a:moveTo>
                  <a:lnTo>
                    <a:pt x="3019933" y="0"/>
                  </a:lnTo>
                  <a:lnTo>
                    <a:pt x="3019933" y="1403223"/>
                  </a:lnTo>
                  <a:lnTo>
                    <a:pt x="0" y="140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42568" y="384353"/>
            <a:ext cx="2127647" cy="359035"/>
            <a:chOff x="0" y="0"/>
            <a:chExt cx="2836862" cy="478714"/>
          </a:xfrm>
        </p:grpSpPr>
        <p:sp>
          <p:nvSpPr>
            <p:cNvPr id="7" name="Freeform 7" descr="spinnaker_logo_transparent.png"/>
            <p:cNvSpPr/>
            <p:nvPr/>
          </p:nvSpPr>
          <p:spPr>
            <a:xfrm>
              <a:off x="0" y="0"/>
              <a:ext cx="2836799" cy="478663"/>
            </a:xfrm>
            <a:custGeom>
              <a:avLst/>
              <a:gdLst/>
              <a:ahLst/>
              <a:cxnLst/>
              <a:rect l="l" t="t" r="r" b="b"/>
              <a:pathLst>
                <a:path w="2836799" h="478663">
                  <a:moveTo>
                    <a:pt x="0" y="0"/>
                  </a:moveTo>
                  <a:lnTo>
                    <a:pt x="2836799" y="0"/>
                  </a:lnTo>
                  <a:lnTo>
                    <a:pt x="2836799" y="478663"/>
                  </a:lnTo>
                  <a:lnTo>
                    <a:pt x="0" y="47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46411" y="9855003"/>
            <a:ext cx="16563727" cy="202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>
                <a:solidFill>
                  <a:srgbClr val="626C7D"/>
                </a:solidFill>
                <a:latin typeface="Calibri (MS)"/>
                <a:ea typeface="Calibri (MS)"/>
                <a:cs typeface="Calibri (MS)"/>
                <a:sym typeface="Calibri (MS)"/>
              </a:rPr>
              <a:t>Marketing Executive Level 4 Apprenticeship | Progress Review | Bethanie-Taylor Grenfell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83862" y="741578"/>
            <a:ext cx="11965267" cy="47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Review Snapshot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11322" y="1390936"/>
            <a:ext cx="11828002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5"/>
              </a:lnSpc>
            </a:pPr>
            <a:r>
              <a:rPr lang="en-US" sz="1529">
                <a:solidFill>
                  <a:srgbClr val="60696C"/>
                </a:solidFill>
                <a:latin typeface="Aptos"/>
                <a:ea typeface="Aptos"/>
                <a:cs typeface="Aptos"/>
                <a:sym typeface="Aptos"/>
              </a:rPr>
              <a:t>A strong quarter: high attendance, meaningful workplace application and one small evidence-admin gap to close.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53719" y="2395023"/>
            <a:ext cx="3240081" cy="2141944"/>
            <a:chOff x="0" y="0"/>
            <a:chExt cx="4320108" cy="28559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20159" cy="2855976"/>
            </a:xfrm>
            <a:custGeom>
              <a:avLst/>
              <a:gdLst/>
              <a:ahLst/>
              <a:cxnLst/>
              <a:rect l="l" t="t" r="r" b="b"/>
              <a:pathLst>
                <a:path w="4320159" h="2855976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3844163" y="0"/>
                  </a:lnTo>
                  <a:cubicBezTo>
                    <a:pt x="4107053" y="0"/>
                    <a:pt x="4320159" y="213106"/>
                    <a:pt x="4320159" y="475996"/>
                  </a:cubicBezTo>
                  <a:lnTo>
                    <a:pt x="4320159" y="2379980"/>
                  </a:lnTo>
                  <a:cubicBezTo>
                    <a:pt x="4320159" y="2642870"/>
                    <a:pt x="4107053" y="2855976"/>
                    <a:pt x="3844163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29500" y="2470814"/>
            <a:ext cx="3088510" cy="192176"/>
            <a:chOff x="0" y="0"/>
            <a:chExt cx="4118013" cy="25623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17975" cy="256160"/>
            </a:xfrm>
            <a:custGeom>
              <a:avLst/>
              <a:gdLst/>
              <a:ahLst/>
              <a:cxnLst/>
              <a:rect l="l" t="t" r="r" b="b"/>
              <a:pathLst>
                <a:path w="4117975" h="256160">
                  <a:moveTo>
                    <a:pt x="0" y="42672"/>
                  </a:moveTo>
                  <a:cubicBezTo>
                    <a:pt x="0" y="19177"/>
                    <a:pt x="19177" y="0"/>
                    <a:pt x="42672" y="0"/>
                  </a:cubicBezTo>
                  <a:lnTo>
                    <a:pt x="4075303" y="0"/>
                  </a:lnTo>
                  <a:cubicBezTo>
                    <a:pt x="4098925" y="0"/>
                    <a:pt x="4117975" y="19177"/>
                    <a:pt x="4117975" y="42672"/>
                  </a:cubicBezTo>
                  <a:lnTo>
                    <a:pt x="4117975" y="213487"/>
                  </a:lnTo>
                  <a:cubicBezTo>
                    <a:pt x="4117975" y="237109"/>
                    <a:pt x="4098798" y="256159"/>
                    <a:pt x="4075303" y="256159"/>
                  </a:cubicBezTo>
                  <a:lnTo>
                    <a:pt x="42672" y="256159"/>
                  </a:lnTo>
                  <a:cubicBezTo>
                    <a:pt x="19177" y="256286"/>
                    <a:pt x="0" y="237109"/>
                    <a:pt x="0" y="213487"/>
                  </a:cubicBezTo>
                  <a:close/>
                </a:path>
              </a:pathLst>
            </a:custGeom>
            <a:solidFill>
              <a:srgbClr val="0096A5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125588" y="2796054"/>
            <a:ext cx="2896343" cy="56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0096A5"/>
                </a:solidFill>
                <a:latin typeface="Aptos Bold"/>
                <a:ea typeface="Aptos Bold"/>
                <a:cs typeface="Aptos Bold"/>
                <a:sym typeface="Aptos Bold"/>
              </a:rPr>
              <a:t>100%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8137" y="3500314"/>
            <a:ext cx="2951245" cy="5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Attendance across Apr, May, Jun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9314" y="4021931"/>
            <a:ext cx="2868882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7"/>
              </a:lnSpc>
            </a:pPr>
            <a:r>
              <a:rPr lang="en-US" sz="1480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Catch-ups used where needed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454033" y="2395023"/>
            <a:ext cx="3240081" cy="2141944"/>
            <a:chOff x="0" y="0"/>
            <a:chExt cx="4320108" cy="28559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320159" cy="2855976"/>
            </a:xfrm>
            <a:custGeom>
              <a:avLst/>
              <a:gdLst/>
              <a:ahLst/>
              <a:cxnLst/>
              <a:rect l="l" t="t" r="r" b="b"/>
              <a:pathLst>
                <a:path w="4320159" h="2855976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3844163" y="0"/>
                  </a:lnTo>
                  <a:cubicBezTo>
                    <a:pt x="4107053" y="0"/>
                    <a:pt x="4320159" y="213106"/>
                    <a:pt x="4320159" y="475996"/>
                  </a:cubicBezTo>
                  <a:lnTo>
                    <a:pt x="4320159" y="2379980"/>
                  </a:lnTo>
                  <a:cubicBezTo>
                    <a:pt x="4320159" y="2642870"/>
                    <a:pt x="4107053" y="2855976"/>
                    <a:pt x="3844163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4529823" y="2470814"/>
            <a:ext cx="3088510" cy="192176"/>
            <a:chOff x="0" y="0"/>
            <a:chExt cx="4118013" cy="25623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117975" cy="256160"/>
            </a:xfrm>
            <a:custGeom>
              <a:avLst/>
              <a:gdLst/>
              <a:ahLst/>
              <a:cxnLst/>
              <a:rect l="l" t="t" r="r" b="b"/>
              <a:pathLst>
                <a:path w="4117975" h="256160">
                  <a:moveTo>
                    <a:pt x="0" y="42672"/>
                  </a:moveTo>
                  <a:cubicBezTo>
                    <a:pt x="0" y="19177"/>
                    <a:pt x="19177" y="0"/>
                    <a:pt x="42672" y="0"/>
                  </a:cubicBezTo>
                  <a:lnTo>
                    <a:pt x="4075303" y="0"/>
                  </a:lnTo>
                  <a:cubicBezTo>
                    <a:pt x="4098925" y="0"/>
                    <a:pt x="4117975" y="19177"/>
                    <a:pt x="4117975" y="42672"/>
                  </a:cubicBezTo>
                  <a:lnTo>
                    <a:pt x="4117975" y="213487"/>
                  </a:lnTo>
                  <a:cubicBezTo>
                    <a:pt x="4117975" y="237109"/>
                    <a:pt x="4098798" y="256159"/>
                    <a:pt x="4075303" y="256159"/>
                  </a:cubicBezTo>
                  <a:lnTo>
                    <a:pt x="42672" y="256159"/>
                  </a:lnTo>
                  <a:cubicBezTo>
                    <a:pt x="19177" y="256286"/>
                    <a:pt x="0" y="237109"/>
                    <a:pt x="0" y="213487"/>
                  </a:cubicBezTo>
                  <a:close/>
                </a:path>
              </a:pathLst>
            </a:custGeom>
            <a:solidFill>
              <a:srgbClr val="EF6925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4625902" y="2796054"/>
            <a:ext cx="2896343" cy="56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EF6925"/>
                </a:solidFill>
                <a:latin typeface="Aptos Bold"/>
                <a:ea typeface="Aptos Bold"/>
                <a:cs typeface="Aptos Bold"/>
                <a:sym typeface="Aptos Bold"/>
              </a:rPr>
              <a:t>74%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98451" y="3500314"/>
            <a:ext cx="2951245" cy="5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Programme progress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39637" y="4021931"/>
            <a:ext cx="2868882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7"/>
              </a:lnSpc>
            </a:pPr>
            <a:r>
              <a:rPr lang="en-US" sz="1480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Target: 75%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954347" y="2395023"/>
            <a:ext cx="3240081" cy="2141944"/>
            <a:chOff x="0" y="0"/>
            <a:chExt cx="4320108" cy="285592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320159" cy="2855976"/>
            </a:xfrm>
            <a:custGeom>
              <a:avLst/>
              <a:gdLst/>
              <a:ahLst/>
              <a:cxnLst/>
              <a:rect l="l" t="t" r="r" b="b"/>
              <a:pathLst>
                <a:path w="4320159" h="2855976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3844163" y="0"/>
                  </a:lnTo>
                  <a:cubicBezTo>
                    <a:pt x="4107053" y="0"/>
                    <a:pt x="4320159" y="213106"/>
                    <a:pt x="4320159" y="475996"/>
                  </a:cubicBezTo>
                  <a:lnTo>
                    <a:pt x="4320159" y="2379980"/>
                  </a:lnTo>
                  <a:cubicBezTo>
                    <a:pt x="4320159" y="2642870"/>
                    <a:pt x="4107053" y="2855976"/>
                    <a:pt x="3844163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8030137" y="2470814"/>
            <a:ext cx="3088510" cy="192176"/>
            <a:chOff x="0" y="0"/>
            <a:chExt cx="4118013" cy="25623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117975" cy="256160"/>
            </a:xfrm>
            <a:custGeom>
              <a:avLst/>
              <a:gdLst/>
              <a:ahLst/>
              <a:cxnLst/>
              <a:rect l="l" t="t" r="r" b="b"/>
              <a:pathLst>
                <a:path w="4117975" h="256160">
                  <a:moveTo>
                    <a:pt x="0" y="42672"/>
                  </a:moveTo>
                  <a:cubicBezTo>
                    <a:pt x="0" y="19177"/>
                    <a:pt x="19177" y="0"/>
                    <a:pt x="42672" y="0"/>
                  </a:cubicBezTo>
                  <a:lnTo>
                    <a:pt x="4075303" y="0"/>
                  </a:lnTo>
                  <a:cubicBezTo>
                    <a:pt x="4098925" y="0"/>
                    <a:pt x="4117975" y="19177"/>
                    <a:pt x="4117975" y="42672"/>
                  </a:cubicBezTo>
                  <a:lnTo>
                    <a:pt x="4117975" y="213487"/>
                  </a:lnTo>
                  <a:cubicBezTo>
                    <a:pt x="4117975" y="237109"/>
                    <a:pt x="4098798" y="256159"/>
                    <a:pt x="4075303" y="256159"/>
                  </a:cubicBezTo>
                  <a:lnTo>
                    <a:pt x="42672" y="256159"/>
                  </a:lnTo>
                  <a:cubicBezTo>
                    <a:pt x="19177" y="256286"/>
                    <a:pt x="0" y="237109"/>
                    <a:pt x="0" y="213487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8126225" y="2796054"/>
            <a:ext cx="2896343" cy="56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16A34A"/>
                </a:solidFill>
                <a:latin typeface="Aptos Bold"/>
                <a:ea typeface="Aptos Bold"/>
                <a:cs typeface="Aptos Bold"/>
                <a:sym typeface="Aptos Bold"/>
              </a:rPr>
              <a:t>195h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098765" y="3500314"/>
            <a:ext cx="2951245" cy="5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OTJ hours completed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39951" y="4021931"/>
            <a:ext cx="2868882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7"/>
              </a:lnSpc>
            </a:pPr>
            <a:r>
              <a:rPr lang="en-US" sz="1480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Approx. 42h ahead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1454670" y="2395023"/>
            <a:ext cx="3240081" cy="2141944"/>
            <a:chOff x="0" y="0"/>
            <a:chExt cx="4320108" cy="285592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320159" cy="2855976"/>
            </a:xfrm>
            <a:custGeom>
              <a:avLst/>
              <a:gdLst/>
              <a:ahLst/>
              <a:cxnLst/>
              <a:rect l="l" t="t" r="r" b="b"/>
              <a:pathLst>
                <a:path w="4320159" h="2855976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3844163" y="0"/>
                  </a:lnTo>
                  <a:cubicBezTo>
                    <a:pt x="4107053" y="0"/>
                    <a:pt x="4320159" y="213106"/>
                    <a:pt x="4320159" y="475996"/>
                  </a:cubicBezTo>
                  <a:lnTo>
                    <a:pt x="4320159" y="2379980"/>
                  </a:lnTo>
                  <a:cubicBezTo>
                    <a:pt x="4320159" y="2642870"/>
                    <a:pt x="4107053" y="2855976"/>
                    <a:pt x="3844163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1530451" y="2470814"/>
            <a:ext cx="3088510" cy="192176"/>
            <a:chOff x="0" y="0"/>
            <a:chExt cx="4118013" cy="25623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117975" cy="256160"/>
            </a:xfrm>
            <a:custGeom>
              <a:avLst/>
              <a:gdLst/>
              <a:ahLst/>
              <a:cxnLst/>
              <a:rect l="l" t="t" r="r" b="b"/>
              <a:pathLst>
                <a:path w="4117975" h="256160">
                  <a:moveTo>
                    <a:pt x="0" y="42672"/>
                  </a:moveTo>
                  <a:cubicBezTo>
                    <a:pt x="0" y="19177"/>
                    <a:pt x="19177" y="0"/>
                    <a:pt x="42672" y="0"/>
                  </a:cubicBezTo>
                  <a:lnTo>
                    <a:pt x="4075303" y="0"/>
                  </a:lnTo>
                  <a:cubicBezTo>
                    <a:pt x="4098925" y="0"/>
                    <a:pt x="4117975" y="19177"/>
                    <a:pt x="4117975" y="42672"/>
                  </a:cubicBezTo>
                  <a:lnTo>
                    <a:pt x="4117975" y="213487"/>
                  </a:lnTo>
                  <a:cubicBezTo>
                    <a:pt x="4117975" y="237109"/>
                    <a:pt x="4098798" y="256159"/>
                    <a:pt x="4075303" y="256159"/>
                  </a:cubicBezTo>
                  <a:lnTo>
                    <a:pt x="42672" y="256159"/>
                  </a:lnTo>
                  <a:cubicBezTo>
                    <a:pt x="19177" y="256286"/>
                    <a:pt x="0" y="237109"/>
                    <a:pt x="0" y="213487"/>
                  </a:cubicBezTo>
                  <a:close/>
                </a:path>
              </a:pathLst>
            </a:custGeom>
            <a:solidFill>
              <a:srgbClr val="5D49D8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11626529" y="2796054"/>
            <a:ext cx="2896343" cy="56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5D49D8"/>
                </a:solidFill>
                <a:latin typeface="Aptos Bold"/>
                <a:ea typeface="Aptos Bold"/>
                <a:cs typeface="Aptos Bold"/>
                <a:sym typeface="Aptos Bold"/>
              </a:rPr>
              <a:t>100%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599078" y="3500314"/>
            <a:ext cx="2951245" cy="5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KSB course complete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640264" y="4021931"/>
            <a:ext cx="2868882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7"/>
              </a:lnSpc>
            </a:pPr>
            <a:r>
              <a:rPr lang="en-US" sz="1480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Keep clicking complete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4954983" y="2395023"/>
            <a:ext cx="2416473" cy="2141944"/>
            <a:chOff x="0" y="0"/>
            <a:chExt cx="3221965" cy="285592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221990" cy="2855976"/>
            </a:xfrm>
            <a:custGeom>
              <a:avLst/>
              <a:gdLst/>
              <a:ahLst/>
              <a:cxnLst/>
              <a:rect l="l" t="t" r="r" b="b"/>
              <a:pathLst>
                <a:path w="3221990" h="2855976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2745994" y="0"/>
                  </a:lnTo>
                  <a:cubicBezTo>
                    <a:pt x="3008884" y="0"/>
                    <a:pt x="3221990" y="213106"/>
                    <a:pt x="3221990" y="475996"/>
                  </a:cubicBezTo>
                  <a:lnTo>
                    <a:pt x="3221990" y="2379980"/>
                  </a:lnTo>
                  <a:cubicBezTo>
                    <a:pt x="3221990" y="2642870"/>
                    <a:pt x="3008884" y="2855976"/>
                    <a:pt x="2745994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15168029" y="2786520"/>
            <a:ext cx="1990373" cy="5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D97706"/>
                </a:solidFill>
                <a:latin typeface="Aptos Bold"/>
                <a:ea typeface="Aptos Bold"/>
                <a:cs typeface="Aptos Bold"/>
                <a:sym typeface="Aptos Bold"/>
              </a:rPr>
              <a:t>RAG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168029" y="3449612"/>
            <a:ext cx="1990373" cy="489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Amber-Green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5168029" y="3925843"/>
            <a:ext cx="199037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7"/>
              </a:lnSpc>
            </a:pPr>
            <a:r>
              <a:rPr lang="en-US" sz="1480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Evidence admin only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022356" y="5140376"/>
            <a:ext cx="8044434" cy="3171444"/>
            <a:chOff x="0" y="0"/>
            <a:chExt cx="10725912" cy="42285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725912" cy="4228592"/>
            </a:xfrm>
            <a:custGeom>
              <a:avLst/>
              <a:gdLst/>
              <a:ahLst/>
              <a:cxnLst/>
              <a:rect l="l" t="t" r="r" b="b"/>
              <a:pathLst>
                <a:path w="10725912" h="4228592">
                  <a:moveTo>
                    <a:pt x="0" y="704723"/>
                  </a:moveTo>
                  <a:cubicBezTo>
                    <a:pt x="0" y="315595"/>
                    <a:pt x="315595" y="0"/>
                    <a:pt x="704723" y="0"/>
                  </a:cubicBezTo>
                  <a:lnTo>
                    <a:pt x="10021189" y="0"/>
                  </a:lnTo>
                  <a:cubicBezTo>
                    <a:pt x="10410444" y="0"/>
                    <a:pt x="10725912" y="315595"/>
                    <a:pt x="10725912" y="704723"/>
                  </a:cubicBezTo>
                  <a:lnTo>
                    <a:pt x="10725912" y="3523869"/>
                  </a:lnTo>
                  <a:cubicBezTo>
                    <a:pt x="10725912" y="3913124"/>
                    <a:pt x="10410317" y="4228592"/>
                    <a:pt x="10021189" y="4228592"/>
                  </a:cubicBezTo>
                  <a:lnTo>
                    <a:pt x="704723" y="4228592"/>
                  </a:lnTo>
                  <a:cubicBezTo>
                    <a:pt x="315595" y="4228592"/>
                    <a:pt x="0" y="3912997"/>
                    <a:pt x="0" y="352386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sp>
        <p:nvSpPr>
          <p:cNvPr id="46" name="TextBox 46"/>
          <p:cNvSpPr txBox="1"/>
          <p:nvPr/>
        </p:nvSpPr>
        <p:spPr>
          <a:xfrm>
            <a:off x="1413767" y="5476923"/>
            <a:ext cx="7211263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2281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Coach summary</a:t>
            </a:r>
          </a:p>
          <a:p>
            <a:pPr algn="l">
              <a:lnSpc>
                <a:spcPts val="2555"/>
              </a:lnSpc>
            </a:pPr>
            <a:r>
              <a:rPr lang="en-US" sz="212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Workplace evidence is rich, current and clearly linked to Spinnaker’s commercial priorities.</a:t>
            </a:r>
          </a:p>
          <a:p>
            <a:pPr algn="l">
              <a:lnSpc>
                <a:spcPts val="2555"/>
              </a:lnSpc>
            </a:pPr>
            <a:r>
              <a:rPr lang="en-US" sz="212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April–June assignments show data analysis, promotional planning and social media strategy.</a:t>
            </a:r>
          </a:p>
          <a:p>
            <a:pPr algn="l">
              <a:lnSpc>
                <a:spcPts val="2555"/>
              </a:lnSpc>
            </a:pPr>
            <a:r>
              <a:rPr lang="en-US" sz="212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Additional activities show practical ownership across content, events, AEO/SEO, emails and consultant support.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9464288" y="5140376"/>
            <a:ext cx="7907169" cy="3171444"/>
            <a:chOff x="0" y="0"/>
            <a:chExt cx="10542892" cy="422859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542778" cy="4228592"/>
            </a:xfrm>
            <a:custGeom>
              <a:avLst/>
              <a:gdLst/>
              <a:ahLst/>
              <a:cxnLst/>
              <a:rect l="l" t="t" r="r" b="b"/>
              <a:pathLst>
                <a:path w="10542778" h="4228592">
                  <a:moveTo>
                    <a:pt x="0" y="704723"/>
                  </a:moveTo>
                  <a:cubicBezTo>
                    <a:pt x="0" y="315595"/>
                    <a:pt x="315595" y="0"/>
                    <a:pt x="704723" y="0"/>
                  </a:cubicBezTo>
                  <a:lnTo>
                    <a:pt x="9838055" y="0"/>
                  </a:lnTo>
                  <a:cubicBezTo>
                    <a:pt x="10227311" y="0"/>
                    <a:pt x="10542778" y="315595"/>
                    <a:pt x="10542778" y="704723"/>
                  </a:cubicBezTo>
                  <a:lnTo>
                    <a:pt x="10542778" y="3523869"/>
                  </a:lnTo>
                  <a:cubicBezTo>
                    <a:pt x="10542778" y="3913124"/>
                    <a:pt x="10227183" y="4228592"/>
                    <a:pt x="9838055" y="4228592"/>
                  </a:cubicBezTo>
                  <a:lnTo>
                    <a:pt x="704723" y="4228592"/>
                  </a:lnTo>
                  <a:cubicBezTo>
                    <a:pt x="315595" y="4228592"/>
                    <a:pt x="0" y="3912997"/>
                    <a:pt x="0" y="352386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sp>
        <p:nvSpPr>
          <p:cNvPr id="49" name="TextBox 49"/>
          <p:cNvSpPr txBox="1"/>
          <p:nvPr/>
        </p:nvSpPr>
        <p:spPr>
          <a:xfrm>
            <a:off x="9855698" y="5476923"/>
            <a:ext cx="7142626" cy="202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381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Immediate focus</a:t>
            </a:r>
          </a:p>
          <a:p>
            <a:pPr algn="l">
              <a:lnSpc>
                <a:spcPts val="2675"/>
              </a:lnSpc>
            </a:pPr>
            <a:r>
              <a:rPr lang="en-US" sz="222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Close overdue evidence for February and March attendance.</a:t>
            </a:r>
          </a:p>
          <a:p>
            <a:pPr algn="l">
              <a:lnSpc>
                <a:spcPts val="2675"/>
              </a:lnSpc>
            </a:pPr>
            <a:r>
              <a:rPr lang="en-US" sz="222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Continue the quick 30–45 minute catch-up routine after any missed lecture.</a:t>
            </a:r>
          </a:p>
          <a:p>
            <a:pPr algn="l">
              <a:lnSpc>
                <a:spcPts val="2675"/>
              </a:lnSpc>
            </a:pPr>
            <a:r>
              <a:rPr lang="en-US" sz="222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Prioritise four KSB gaps: K4.1, K4.2, S3.3 and S4.1.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4872990" y="8702745"/>
            <a:ext cx="8716470" cy="466706"/>
            <a:chOff x="0" y="0"/>
            <a:chExt cx="11621960" cy="62227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622024" cy="622300"/>
            </a:xfrm>
            <a:custGeom>
              <a:avLst/>
              <a:gdLst/>
              <a:ahLst/>
              <a:cxnLst/>
              <a:rect l="l" t="t" r="r" b="b"/>
              <a:pathLst>
                <a:path w="11622024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11518265" y="0"/>
                  </a:lnTo>
                  <a:cubicBezTo>
                    <a:pt x="11575542" y="0"/>
                    <a:pt x="11622024" y="46482"/>
                    <a:pt x="11622024" y="103759"/>
                  </a:cubicBezTo>
                  <a:lnTo>
                    <a:pt x="11622024" y="518541"/>
                  </a:lnTo>
                  <a:cubicBezTo>
                    <a:pt x="11622024" y="575818"/>
                    <a:pt x="11575542" y="622300"/>
                    <a:pt x="11518265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083149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4872990" y="8716470"/>
            <a:ext cx="8716470" cy="439255"/>
            <a:chOff x="0" y="0"/>
            <a:chExt cx="11621960" cy="58567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1621960" cy="585674"/>
            </a:xfrm>
            <a:custGeom>
              <a:avLst/>
              <a:gdLst/>
              <a:ahLst/>
              <a:cxnLst/>
              <a:rect l="l" t="t" r="r" b="b"/>
              <a:pathLst>
                <a:path w="11621960" h="585674">
                  <a:moveTo>
                    <a:pt x="0" y="0"/>
                  </a:moveTo>
                  <a:lnTo>
                    <a:pt x="11621960" y="0"/>
                  </a:lnTo>
                  <a:lnTo>
                    <a:pt x="1162196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36656" b="-336655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11621960" cy="5856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75"/>
                </a:lnSpc>
              </a:pPr>
              <a:r>
                <a:rPr lang="en-US" sz="164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Overall: Bethanie is on track, ahead on OTJ, and very close to target progress.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6800" y="-291"/>
            <a:ext cx="18301811" cy="10295001"/>
            <a:chOff x="0" y="0"/>
            <a:chExt cx="24402415" cy="13726668"/>
          </a:xfrm>
        </p:grpSpPr>
        <p:sp>
          <p:nvSpPr>
            <p:cNvPr id="3" name="Freeform 3" descr="kbc_clean_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233353"/>
            <a:ext cx="2264950" cy="1052417"/>
            <a:chOff x="0" y="0"/>
            <a:chExt cx="3019933" cy="1403223"/>
          </a:xfrm>
        </p:grpSpPr>
        <p:sp>
          <p:nvSpPr>
            <p:cNvPr id="5" name="Freeform 5" descr="kbc_logo_transparent.png"/>
            <p:cNvSpPr/>
            <p:nvPr/>
          </p:nvSpPr>
          <p:spPr>
            <a:xfrm>
              <a:off x="0" y="0"/>
              <a:ext cx="3019933" cy="1403223"/>
            </a:xfrm>
            <a:custGeom>
              <a:avLst/>
              <a:gdLst/>
              <a:ahLst/>
              <a:cxnLst/>
              <a:rect l="l" t="t" r="r" b="b"/>
              <a:pathLst>
                <a:path w="3019933" h="1403223">
                  <a:moveTo>
                    <a:pt x="0" y="0"/>
                  </a:moveTo>
                  <a:lnTo>
                    <a:pt x="3019933" y="0"/>
                  </a:lnTo>
                  <a:lnTo>
                    <a:pt x="3019933" y="1403223"/>
                  </a:lnTo>
                  <a:lnTo>
                    <a:pt x="0" y="140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9" b="-1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46411" y="9845478"/>
            <a:ext cx="16563727" cy="211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950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Marketing Executive Level 4 Apprenticeship | Progress Review | Curtis Cooper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83862" y="741578"/>
            <a:ext cx="11965267" cy="47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Progress Review Closure &amp; Next Learning Phase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11322" y="1390936"/>
            <a:ext cx="11828002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The only overdue activity is this progress review. Once signed and refreshed in Aptem, Curtis moves into MarTech and focused KSB evidence development.</a:t>
            </a:r>
          </a:p>
        </p:txBody>
      </p:sp>
      <p:sp>
        <p:nvSpPr>
          <p:cNvPr id="9" name="Freeform 9"/>
          <p:cNvSpPr/>
          <p:nvPr/>
        </p:nvSpPr>
        <p:spPr>
          <a:xfrm>
            <a:off x="1360160" y="2389661"/>
            <a:ext cx="3868445" cy="2289867"/>
          </a:xfrm>
          <a:custGeom>
            <a:avLst/>
            <a:gdLst/>
            <a:ahLst/>
            <a:cxnLst/>
            <a:rect l="l" t="t" r="r" b="b"/>
            <a:pathLst>
              <a:path w="3868445" h="2289867">
                <a:moveTo>
                  <a:pt x="0" y="0"/>
                </a:moveTo>
                <a:lnTo>
                  <a:pt x="3868446" y="0"/>
                </a:lnTo>
                <a:lnTo>
                  <a:pt x="3868446" y="2289867"/>
                </a:lnTo>
                <a:lnTo>
                  <a:pt x="0" y="22898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441304" y="2470814"/>
            <a:ext cx="3706178" cy="192119"/>
            <a:chOff x="0" y="0"/>
            <a:chExt cx="4941570" cy="25615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941570" cy="256160"/>
            </a:xfrm>
            <a:custGeom>
              <a:avLst/>
              <a:gdLst/>
              <a:ahLst/>
              <a:cxnLst/>
              <a:rect l="l" t="t" r="r" b="b"/>
              <a:pathLst>
                <a:path w="4941570" h="256160">
                  <a:moveTo>
                    <a:pt x="0" y="42672"/>
                  </a:moveTo>
                  <a:cubicBezTo>
                    <a:pt x="0" y="19177"/>
                    <a:pt x="19177" y="0"/>
                    <a:pt x="42672" y="0"/>
                  </a:cubicBezTo>
                  <a:lnTo>
                    <a:pt x="4898898" y="0"/>
                  </a:lnTo>
                  <a:cubicBezTo>
                    <a:pt x="4922520" y="0"/>
                    <a:pt x="4941570" y="19177"/>
                    <a:pt x="4941570" y="42672"/>
                  </a:cubicBezTo>
                  <a:lnTo>
                    <a:pt x="4941570" y="213487"/>
                  </a:lnTo>
                  <a:cubicBezTo>
                    <a:pt x="4941570" y="237109"/>
                    <a:pt x="4922393" y="256159"/>
                    <a:pt x="4898898" y="256159"/>
                  </a:cubicBezTo>
                  <a:lnTo>
                    <a:pt x="42672" y="256159"/>
                  </a:lnTo>
                  <a:cubicBezTo>
                    <a:pt x="19177" y="256286"/>
                    <a:pt x="0" y="237109"/>
                    <a:pt x="0" y="213487"/>
                  </a:cubicBezTo>
                  <a:close/>
                </a:path>
              </a:pathLst>
            </a:custGeom>
            <a:solidFill>
              <a:srgbClr val="0096A5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537392" y="2796054"/>
            <a:ext cx="3514039" cy="56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9 September 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9941" y="3500314"/>
            <a:ext cx="3568951" cy="5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Progress Review 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51118" y="4012406"/>
            <a:ext cx="302365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Complete today and confirm the Aptem status within 48 hours</a:t>
            </a:r>
          </a:p>
        </p:txBody>
      </p:sp>
      <p:sp>
        <p:nvSpPr>
          <p:cNvPr id="15" name="Freeform 15"/>
          <p:cNvSpPr/>
          <p:nvPr/>
        </p:nvSpPr>
        <p:spPr>
          <a:xfrm>
            <a:off x="13027876" y="2389661"/>
            <a:ext cx="3868445" cy="2289867"/>
          </a:xfrm>
          <a:custGeom>
            <a:avLst/>
            <a:gdLst/>
            <a:ahLst/>
            <a:cxnLst/>
            <a:rect l="l" t="t" r="r" b="b"/>
            <a:pathLst>
              <a:path w="3868445" h="2289867">
                <a:moveTo>
                  <a:pt x="0" y="0"/>
                </a:moveTo>
                <a:lnTo>
                  <a:pt x="3868445" y="0"/>
                </a:lnTo>
                <a:lnTo>
                  <a:pt x="3868445" y="2289867"/>
                </a:lnTo>
                <a:lnTo>
                  <a:pt x="0" y="22898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3109019" y="2470814"/>
            <a:ext cx="3706178" cy="192119"/>
            <a:chOff x="0" y="0"/>
            <a:chExt cx="4941570" cy="25615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941570" cy="256160"/>
            </a:xfrm>
            <a:custGeom>
              <a:avLst/>
              <a:gdLst/>
              <a:ahLst/>
              <a:cxnLst/>
              <a:rect l="l" t="t" r="r" b="b"/>
              <a:pathLst>
                <a:path w="4941570" h="256160">
                  <a:moveTo>
                    <a:pt x="0" y="42672"/>
                  </a:moveTo>
                  <a:cubicBezTo>
                    <a:pt x="0" y="19177"/>
                    <a:pt x="19177" y="0"/>
                    <a:pt x="42672" y="0"/>
                  </a:cubicBezTo>
                  <a:lnTo>
                    <a:pt x="4898898" y="0"/>
                  </a:lnTo>
                  <a:cubicBezTo>
                    <a:pt x="4922520" y="0"/>
                    <a:pt x="4941570" y="19177"/>
                    <a:pt x="4941570" y="42672"/>
                  </a:cubicBezTo>
                  <a:lnTo>
                    <a:pt x="4941570" y="213487"/>
                  </a:lnTo>
                  <a:cubicBezTo>
                    <a:pt x="4941570" y="237109"/>
                    <a:pt x="4922393" y="256159"/>
                    <a:pt x="4898898" y="256159"/>
                  </a:cubicBezTo>
                  <a:lnTo>
                    <a:pt x="42672" y="256159"/>
                  </a:lnTo>
                  <a:cubicBezTo>
                    <a:pt x="19177" y="256286"/>
                    <a:pt x="0" y="237109"/>
                    <a:pt x="0" y="213487"/>
                  </a:cubicBezTo>
                  <a:close/>
                </a:path>
              </a:pathLst>
            </a:custGeom>
            <a:solidFill>
              <a:srgbClr val="0096A5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3205108" y="2796054"/>
            <a:ext cx="3514039" cy="56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September–October 2026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77657" y="3500314"/>
            <a:ext cx="3568951" cy="5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Live KSB evidence project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11499" y="4021931"/>
            <a:ext cx="387525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5"/>
              </a:lnSpc>
            </a:pPr>
            <a:r>
              <a:rPr lang="en-US" sz="1738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Agree one project by 17 September; submit the verified pack by 31 October</a:t>
            </a:r>
          </a:p>
        </p:txBody>
      </p:sp>
      <p:sp>
        <p:nvSpPr>
          <p:cNvPr id="21" name="Freeform 21"/>
          <p:cNvSpPr/>
          <p:nvPr/>
        </p:nvSpPr>
        <p:spPr>
          <a:xfrm>
            <a:off x="1360160" y="5546808"/>
            <a:ext cx="7711973" cy="2495798"/>
          </a:xfrm>
          <a:custGeom>
            <a:avLst/>
            <a:gdLst/>
            <a:ahLst/>
            <a:cxnLst/>
            <a:rect l="l" t="t" r="r" b="b"/>
            <a:pathLst>
              <a:path w="7711973" h="2495798">
                <a:moveTo>
                  <a:pt x="0" y="0"/>
                </a:moveTo>
                <a:lnTo>
                  <a:pt x="7711974" y="0"/>
                </a:lnTo>
                <a:lnTo>
                  <a:pt x="7711974" y="2495797"/>
                </a:lnTo>
                <a:lnTo>
                  <a:pt x="0" y="24957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921526" y="5998426"/>
            <a:ext cx="6634972" cy="1305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What will evidence each MarTech activity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Exact LMS resource title and completion screenshot.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Date, start time, finish time and actual hours.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Concise notes and one example of workplace application.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Reflection and relevant KSB mapping uploaded within 48 hours.</a:t>
            </a:r>
          </a:p>
        </p:txBody>
      </p:sp>
      <p:sp>
        <p:nvSpPr>
          <p:cNvPr id="23" name="Freeform 23"/>
          <p:cNvSpPr/>
          <p:nvPr/>
        </p:nvSpPr>
        <p:spPr>
          <a:xfrm>
            <a:off x="9527562" y="5546808"/>
            <a:ext cx="7368788" cy="2495798"/>
          </a:xfrm>
          <a:custGeom>
            <a:avLst/>
            <a:gdLst/>
            <a:ahLst/>
            <a:cxnLst/>
            <a:rect l="l" t="t" r="r" b="b"/>
            <a:pathLst>
              <a:path w="7368788" h="2495798">
                <a:moveTo>
                  <a:pt x="0" y="0"/>
                </a:moveTo>
                <a:lnTo>
                  <a:pt x="7368788" y="0"/>
                </a:lnTo>
                <a:lnTo>
                  <a:pt x="7368788" y="2495797"/>
                </a:lnTo>
                <a:lnTo>
                  <a:pt x="0" y="24957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0088928" y="5988901"/>
            <a:ext cx="6291805" cy="125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Future protocol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Protect one paid half-day each week, or two two-hour blocks.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Record only genuine new learning and avoid duplicate OTJ claims.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Retain drafts, screenshots, analytics and approval evidence.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Raise access, release or workload barriers promptly.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4392549" y="8510568"/>
            <a:ext cx="9540145" cy="480441"/>
            <a:chOff x="0" y="0"/>
            <a:chExt cx="12720193" cy="64058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720193" cy="640588"/>
            </a:xfrm>
            <a:custGeom>
              <a:avLst/>
              <a:gdLst/>
              <a:ahLst/>
              <a:cxnLst/>
              <a:rect l="l" t="t" r="r" b="b"/>
              <a:pathLst>
                <a:path w="12720193" h="640588">
                  <a:moveTo>
                    <a:pt x="0" y="106807"/>
                  </a:moveTo>
                  <a:cubicBezTo>
                    <a:pt x="0" y="47752"/>
                    <a:pt x="47752" y="0"/>
                    <a:pt x="106807" y="0"/>
                  </a:cubicBezTo>
                  <a:lnTo>
                    <a:pt x="12613386" y="0"/>
                  </a:lnTo>
                  <a:cubicBezTo>
                    <a:pt x="12672314" y="0"/>
                    <a:pt x="12720193" y="47752"/>
                    <a:pt x="12720193" y="106807"/>
                  </a:cubicBezTo>
                  <a:lnTo>
                    <a:pt x="12720193" y="533781"/>
                  </a:lnTo>
                  <a:cubicBezTo>
                    <a:pt x="12720193" y="592709"/>
                    <a:pt x="12672441" y="640588"/>
                    <a:pt x="12613386" y="640588"/>
                  </a:cubicBezTo>
                  <a:lnTo>
                    <a:pt x="106807" y="640588"/>
                  </a:lnTo>
                  <a:cubicBezTo>
                    <a:pt x="47752" y="640588"/>
                    <a:pt x="0" y="592836"/>
                    <a:pt x="0" y="533781"/>
                  </a:cubicBezTo>
                  <a:close/>
                </a:path>
              </a:pathLst>
            </a:custGeom>
            <a:solidFill>
              <a:srgbClr val="EF6925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4392549" y="8524294"/>
            <a:ext cx="9540078" cy="452980"/>
            <a:chOff x="0" y="0"/>
            <a:chExt cx="12720104" cy="60397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720066" cy="604012"/>
            </a:xfrm>
            <a:custGeom>
              <a:avLst/>
              <a:gdLst/>
              <a:ahLst/>
              <a:cxnLst/>
              <a:rect l="l" t="t" r="r" b="b"/>
              <a:pathLst>
                <a:path w="12720066" h="604012">
                  <a:moveTo>
                    <a:pt x="0" y="0"/>
                  </a:moveTo>
                  <a:lnTo>
                    <a:pt x="12720066" y="0"/>
                  </a:lnTo>
                  <a:lnTo>
                    <a:pt x="12720066" y="604012"/>
                  </a:lnTo>
                  <a:lnTo>
                    <a:pt x="0" y="60401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360060" b="-360052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4392549" y="8517150"/>
            <a:ext cx="9540069" cy="460124"/>
            <a:chOff x="0" y="0"/>
            <a:chExt cx="12720091" cy="61349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720092" cy="613498"/>
            </a:xfrm>
            <a:custGeom>
              <a:avLst/>
              <a:gdLst/>
              <a:ahLst/>
              <a:cxnLst/>
              <a:rect l="l" t="t" r="r" b="b"/>
              <a:pathLst>
                <a:path w="12720092" h="613498">
                  <a:moveTo>
                    <a:pt x="0" y="0"/>
                  </a:moveTo>
                  <a:lnTo>
                    <a:pt x="12720092" y="0"/>
                  </a:lnTo>
                  <a:lnTo>
                    <a:pt x="12720092" y="613498"/>
                  </a:lnTo>
                  <a:lnTo>
                    <a:pt x="0" y="61349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353996" b="-353997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12720091" cy="6230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60"/>
                </a:lnSpc>
              </a:pPr>
              <a:r>
                <a:rPr lang="en-US" sz="105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Practical action: close Progress Review 2 today; begin MarTech this week; agree the live KSB project by 17 September.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690721" y="256032"/>
            <a:ext cx="3499999" cy="347472"/>
            <a:chOff x="0" y="0"/>
            <a:chExt cx="4666666" cy="46329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666667" cy="463296"/>
            </a:xfrm>
            <a:custGeom>
              <a:avLst/>
              <a:gdLst/>
              <a:ahLst/>
              <a:cxnLst/>
              <a:rect l="l" t="t" r="r" b="b"/>
              <a:pathLst>
                <a:path w="4666667" h="463296">
                  <a:moveTo>
                    <a:pt x="0" y="0"/>
                  </a:moveTo>
                  <a:lnTo>
                    <a:pt x="4666667" y="0"/>
                  </a:lnTo>
                  <a:lnTo>
                    <a:pt x="4666667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46267" b="-146267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4666666" cy="4728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19"/>
                </a:lnSpc>
              </a:pPr>
              <a:r>
                <a:rPr lang="en-US" sz="849" b="1">
                  <a:solidFill>
                    <a:srgbClr val="5C329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EXCEED LEARNING PARTNERSHIP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5223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kbc_clean_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233353"/>
            <a:ext cx="2264912" cy="1052436"/>
            <a:chOff x="0" y="0"/>
            <a:chExt cx="3019882" cy="1403248"/>
          </a:xfrm>
        </p:grpSpPr>
        <p:sp>
          <p:nvSpPr>
            <p:cNvPr id="5" name="Freeform 5" descr="kbc_logo_transparent.png"/>
            <p:cNvSpPr/>
            <p:nvPr/>
          </p:nvSpPr>
          <p:spPr>
            <a:xfrm>
              <a:off x="0" y="0"/>
              <a:ext cx="3019933" cy="1403223"/>
            </a:xfrm>
            <a:custGeom>
              <a:avLst/>
              <a:gdLst/>
              <a:ahLst/>
              <a:cxnLst/>
              <a:rect l="l" t="t" r="r" b="b"/>
              <a:pathLst>
                <a:path w="3019933" h="1403223">
                  <a:moveTo>
                    <a:pt x="0" y="0"/>
                  </a:moveTo>
                  <a:lnTo>
                    <a:pt x="3019933" y="0"/>
                  </a:lnTo>
                  <a:lnTo>
                    <a:pt x="3019933" y="1403223"/>
                  </a:lnTo>
                  <a:lnTo>
                    <a:pt x="0" y="140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42568" y="384353"/>
            <a:ext cx="2127647" cy="359035"/>
            <a:chOff x="0" y="0"/>
            <a:chExt cx="2836862" cy="478714"/>
          </a:xfrm>
        </p:grpSpPr>
        <p:sp>
          <p:nvSpPr>
            <p:cNvPr id="7" name="Freeform 7" descr="spinnaker_logo_transparent.png"/>
            <p:cNvSpPr/>
            <p:nvPr/>
          </p:nvSpPr>
          <p:spPr>
            <a:xfrm>
              <a:off x="0" y="0"/>
              <a:ext cx="2836799" cy="478663"/>
            </a:xfrm>
            <a:custGeom>
              <a:avLst/>
              <a:gdLst/>
              <a:ahLst/>
              <a:cxnLst/>
              <a:rect l="l" t="t" r="r" b="b"/>
              <a:pathLst>
                <a:path w="2836799" h="478663">
                  <a:moveTo>
                    <a:pt x="0" y="0"/>
                  </a:moveTo>
                  <a:lnTo>
                    <a:pt x="2836799" y="0"/>
                  </a:lnTo>
                  <a:lnTo>
                    <a:pt x="2836799" y="478663"/>
                  </a:lnTo>
                  <a:lnTo>
                    <a:pt x="0" y="47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46411" y="9855003"/>
            <a:ext cx="16563727" cy="202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>
                <a:solidFill>
                  <a:srgbClr val="626C7D"/>
                </a:solidFill>
                <a:latin typeface="Calibri (MS)"/>
                <a:ea typeface="Calibri (MS)"/>
                <a:cs typeface="Calibri (MS)"/>
                <a:sym typeface="Calibri (MS)"/>
              </a:rPr>
              <a:t>Marketing Executive Level 4 Apprenticeship | Progress Review | Bethanie-Taylor Grenfell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83862" y="741578"/>
            <a:ext cx="11965267" cy="47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Attendance &amp; Engagement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11322" y="1390936"/>
            <a:ext cx="11828002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5"/>
              </a:lnSpc>
            </a:pPr>
            <a:r>
              <a:rPr lang="en-US" sz="1529">
                <a:solidFill>
                  <a:srgbClr val="60696C"/>
                </a:solidFill>
                <a:latin typeface="Aptos"/>
                <a:ea typeface="Aptos"/>
                <a:cs typeface="Aptos"/>
                <a:sym typeface="Aptos"/>
              </a:rPr>
              <a:t>Bethanie has maintained strong attendance habits and has made up missed learning through catch-up sessions.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65523" y="2395023"/>
            <a:ext cx="3857777" cy="2279209"/>
            <a:chOff x="0" y="0"/>
            <a:chExt cx="5143703" cy="30389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43627" cy="3038856"/>
            </a:xfrm>
            <a:custGeom>
              <a:avLst/>
              <a:gdLst/>
              <a:ahLst/>
              <a:cxnLst/>
              <a:rect l="l" t="t" r="r" b="b"/>
              <a:pathLst>
                <a:path w="5143627" h="3038856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4637151" y="0"/>
                  </a:lnTo>
                  <a:cubicBezTo>
                    <a:pt x="4916932" y="0"/>
                    <a:pt x="5143627" y="226822"/>
                    <a:pt x="5143627" y="506476"/>
                  </a:cubicBezTo>
                  <a:lnTo>
                    <a:pt x="5143627" y="2532380"/>
                  </a:lnTo>
                  <a:cubicBezTo>
                    <a:pt x="5143627" y="2812161"/>
                    <a:pt x="4916805" y="3038856"/>
                    <a:pt x="4637151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441304" y="2470814"/>
            <a:ext cx="3706216" cy="192176"/>
            <a:chOff x="0" y="0"/>
            <a:chExt cx="4941621" cy="25623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41570" cy="256160"/>
            </a:xfrm>
            <a:custGeom>
              <a:avLst/>
              <a:gdLst/>
              <a:ahLst/>
              <a:cxnLst/>
              <a:rect l="l" t="t" r="r" b="b"/>
              <a:pathLst>
                <a:path w="4941570" h="256160">
                  <a:moveTo>
                    <a:pt x="0" y="42672"/>
                  </a:moveTo>
                  <a:cubicBezTo>
                    <a:pt x="0" y="19177"/>
                    <a:pt x="19177" y="0"/>
                    <a:pt x="42672" y="0"/>
                  </a:cubicBezTo>
                  <a:lnTo>
                    <a:pt x="4898898" y="0"/>
                  </a:lnTo>
                  <a:cubicBezTo>
                    <a:pt x="4922520" y="0"/>
                    <a:pt x="4941570" y="19177"/>
                    <a:pt x="4941570" y="42672"/>
                  </a:cubicBezTo>
                  <a:lnTo>
                    <a:pt x="4941570" y="213487"/>
                  </a:lnTo>
                  <a:cubicBezTo>
                    <a:pt x="4941570" y="237109"/>
                    <a:pt x="4922393" y="256159"/>
                    <a:pt x="4898898" y="256159"/>
                  </a:cubicBezTo>
                  <a:lnTo>
                    <a:pt x="42672" y="256159"/>
                  </a:lnTo>
                  <a:cubicBezTo>
                    <a:pt x="19177" y="256286"/>
                    <a:pt x="0" y="237109"/>
                    <a:pt x="0" y="213487"/>
                  </a:cubicBezTo>
                  <a:close/>
                </a:path>
              </a:pathLst>
            </a:custGeom>
            <a:solidFill>
              <a:srgbClr val="0096A5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537392" y="2796054"/>
            <a:ext cx="3514039" cy="56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0096A5"/>
                </a:solidFill>
                <a:latin typeface="Aptos Bold"/>
                <a:ea typeface="Aptos Bold"/>
                <a:cs typeface="Aptos Bold"/>
                <a:sym typeface="Aptos Bold"/>
              </a:rPr>
              <a:t>April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9941" y="3500314"/>
            <a:ext cx="3568951" cy="5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Attendance: 100%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51118" y="4021931"/>
            <a:ext cx="3486588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7"/>
              </a:lnSpc>
            </a:pPr>
            <a:r>
              <a:rPr lang="en-US" sz="1480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Engagement sustained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199386" y="2395023"/>
            <a:ext cx="3857777" cy="2279209"/>
            <a:chOff x="0" y="0"/>
            <a:chExt cx="5143703" cy="303894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143627" cy="3038856"/>
            </a:xfrm>
            <a:custGeom>
              <a:avLst/>
              <a:gdLst/>
              <a:ahLst/>
              <a:cxnLst/>
              <a:rect l="l" t="t" r="r" b="b"/>
              <a:pathLst>
                <a:path w="5143627" h="3038856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4637151" y="0"/>
                  </a:lnTo>
                  <a:cubicBezTo>
                    <a:pt x="4916932" y="0"/>
                    <a:pt x="5143627" y="226822"/>
                    <a:pt x="5143627" y="506476"/>
                  </a:cubicBezTo>
                  <a:lnTo>
                    <a:pt x="5143627" y="2532380"/>
                  </a:lnTo>
                  <a:cubicBezTo>
                    <a:pt x="5143627" y="2812161"/>
                    <a:pt x="4916805" y="3038856"/>
                    <a:pt x="4637151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275166" y="2470814"/>
            <a:ext cx="3706216" cy="192176"/>
            <a:chOff x="0" y="0"/>
            <a:chExt cx="4941621" cy="25623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41570" cy="256160"/>
            </a:xfrm>
            <a:custGeom>
              <a:avLst/>
              <a:gdLst/>
              <a:ahLst/>
              <a:cxnLst/>
              <a:rect l="l" t="t" r="r" b="b"/>
              <a:pathLst>
                <a:path w="4941570" h="256160">
                  <a:moveTo>
                    <a:pt x="0" y="42672"/>
                  </a:moveTo>
                  <a:cubicBezTo>
                    <a:pt x="0" y="19177"/>
                    <a:pt x="19177" y="0"/>
                    <a:pt x="42672" y="0"/>
                  </a:cubicBezTo>
                  <a:lnTo>
                    <a:pt x="4898898" y="0"/>
                  </a:lnTo>
                  <a:cubicBezTo>
                    <a:pt x="4922520" y="0"/>
                    <a:pt x="4941570" y="19177"/>
                    <a:pt x="4941570" y="42672"/>
                  </a:cubicBezTo>
                  <a:lnTo>
                    <a:pt x="4941570" y="213487"/>
                  </a:lnTo>
                  <a:cubicBezTo>
                    <a:pt x="4941570" y="237109"/>
                    <a:pt x="4922393" y="256159"/>
                    <a:pt x="4898898" y="256159"/>
                  </a:cubicBezTo>
                  <a:lnTo>
                    <a:pt x="42672" y="256159"/>
                  </a:lnTo>
                  <a:cubicBezTo>
                    <a:pt x="19177" y="256286"/>
                    <a:pt x="0" y="237109"/>
                    <a:pt x="0" y="213487"/>
                  </a:cubicBezTo>
                  <a:close/>
                </a:path>
              </a:pathLst>
            </a:custGeom>
            <a:solidFill>
              <a:srgbClr val="0096A5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7371255" y="2796054"/>
            <a:ext cx="3514039" cy="56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0096A5"/>
                </a:solidFill>
                <a:latin typeface="Aptos Bold"/>
                <a:ea typeface="Aptos Bold"/>
                <a:cs typeface="Aptos Bold"/>
                <a:sym typeface="Aptos Bold"/>
              </a:rPr>
              <a:t>May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43794" y="3500314"/>
            <a:ext cx="3568951" cy="5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Attendance: 100%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84980" y="4021931"/>
            <a:ext cx="3486588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7"/>
              </a:lnSpc>
            </a:pPr>
            <a:r>
              <a:rPr lang="en-US" sz="1480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Catch-up approach used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3033238" y="2395023"/>
            <a:ext cx="3857777" cy="2279209"/>
            <a:chOff x="0" y="0"/>
            <a:chExt cx="5143703" cy="303894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143627" cy="3038856"/>
            </a:xfrm>
            <a:custGeom>
              <a:avLst/>
              <a:gdLst/>
              <a:ahLst/>
              <a:cxnLst/>
              <a:rect l="l" t="t" r="r" b="b"/>
              <a:pathLst>
                <a:path w="5143627" h="3038856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4637151" y="0"/>
                  </a:lnTo>
                  <a:cubicBezTo>
                    <a:pt x="4916932" y="0"/>
                    <a:pt x="5143627" y="226822"/>
                    <a:pt x="5143627" y="506476"/>
                  </a:cubicBezTo>
                  <a:lnTo>
                    <a:pt x="5143627" y="2532380"/>
                  </a:lnTo>
                  <a:cubicBezTo>
                    <a:pt x="5143627" y="2812161"/>
                    <a:pt x="4916805" y="3038856"/>
                    <a:pt x="4637151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3109019" y="2470814"/>
            <a:ext cx="3706216" cy="192176"/>
            <a:chOff x="0" y="0"/>
            <a:chExt cx="4941621" cy="25623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941570" cy="256160"/>
            </a:xfrm>
            <a:custGeom>
              <a:avLst/>
              <a:gdLst/>
              <a:ahLst/>
              <a:cxnLst/>
              <a:rect l="l" t="t" r="r" b="b"/>
              <a:pathLst>
                <a:path w="4941570" h="256160">
                  <a:moveTo>
                    <a:pt x="0" y="42672"/>
                  </a:moveTo>
                  <a:cubicBezTo>
                    <a:pt x="0" y="19177"/>
                    <a:pt x="19177" y="0"/>
                    <a:pt x="42672" y="0"/>
                  </a:cubicBezTo>
                  <a:lnTo>
                    <a:pt x="4898898" y="0"/>
                  </a:lnTo>
                  <a:cubicBezTo>
                    <a:pt x="4922520" y="0"/>
                    <a:pt x="4941570" y="19177"/>
                    <a:pt x="4941570" y="42672"/>
                  </a:cubicBezTo>
                  <a:lnTo>
                    <a:pt x="4941570" y="213487"/>
                  </a:lnTo>
                  <a:cubicBezTo>
                    <a:pt x="4941570" y="237109"/>
                    <a:pt x="4922393" y="256159"/>
                    <a:pt x="4898898" y="256159"/>
                  </a:cubicBezTo>
                  <a:lnTo>
                    <a:pt x="42672" y="256159"/>
                  </a:lnTo>
                  <a:cubicBezTo>
                    <a:pt x="19177" y="256286"/>
                    <a:pt x="0" y="237109"/>
                    <a:pt x="0" y="213487"/>
                  </a:cubicBezTo>
                  <a:close/>
                </a:path>
              </a:pathLst>
            </a:custGeom>
            <a:solidFill>
              <a:srgbClr val="0096A5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3205108" y="2796054"/>
            <a:ext cx="3514039" cy="56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0096A5"/>
                </a:solidFill>
                <a:latin typeface="Aptos Bold"/>
                <a:ea typeface="Aptos Bold"/>
                <a:cs typeface="Aptos Bold"/>
                <a:sym typeface="Aptos Bold"/>
              </a:rPr>
              <a:t>June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177657" y="3500314"/>
            <a:ext cx="3568951" cy="5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Attendance: 100%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218833" y="4021931"/>
            <a:ext cx="3486588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7"/>
              </a:lnSpc>
            </a:pPr>
            <a:r>
              <a:rPr lang="en-US" sz="1480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Consistent participation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365523" y="5552170"/>
            <a:ext cx="7701267" cy="2485111"/>
            <a:chOff x="0" y="0"/>
            <a:chExt cx="10268356" cy="331348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268331" cy="3313430"/>
            </a:xfrm>
            <a:custGeom>
              <a:avLst/>
              <a:gdLst/>
              <a:ahLst/>
              <a:cxnLst/>
              <a:rect l="l" t="t" r="r" b="b"/>
              <a:pathLst>
                <a:path w="10268331" h="331343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9716135" y="0"/>
                  </a:lnTo>
                  <a:cubicBezTo>
                    <a:pt x="10021189" y="0"/>
                    <a:pt x="10268331" y="247269"/>
                    <a:pt x="10268331" y="552196"/>
                  </a:cubicBezTo>
                  <a:lnTo>
                    <a:pt x="10268331" y="2761234"/>
                  </a:lnTo>
                  <a:cubicBezTo>
                    <a:pt x="10268331" y="3066288"/>
                    <a:pt x="10021062" y="3313430"/>
                    <a:pt x="9716135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1756934" y="5861266"/>
            <a:ext cx="6936724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2196" b="1" dirty="0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What is working well</a:t>
            </a:r>
          </a:p>
          <a:p>
            <a:pPr algn="l">
              <a:lnSpc>
                <a:spcPts val="2455"/>
              </a:lnSpc>
            </a:pPr>
            <a:r>
              <a:rPr lang="en-US" sz="2046" dirty="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When a lecture is missed, Bethanie has made up the absence through a catch-up session.</a:t>
            </a:r>
          </a:p>
          <a:p>
            <a:pPr algn="l">
              <a:lnSpc>
                <a:spcPts val="2455"/>
              </a:lnSpc>
            </a:pPr>
            <a:r>
              <a:rPr lang="en-US" sz="2046" dirty="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This is the right professional habit and protects both learning continuity and compliance evidence.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532925" y="5552170"/>
            <a:ext cx="7358101" cy="2485111"/>
            <a:chOff x="0" y="0"/>
            <a:chExt cx="9810801" cy="331348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810750" cy="3313430"/>
            </a:xfrm>
            <a:custGeom>
              <a:avLst/>
              <a:gdLst/>
              <a:ahLst/>
              <a:cxnLst/>
              <a:rect l="l" t="t" r="r" b="b"/>
              <a:pathLst>
                <a:path w="9810750" h="331343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9258554" y="0"/>
                  </a:lnTo>
                  <a:cubicBezTo>
                    <a:pt x="9563608" y="0"/>
                    <a:pt x="9810750" y="247269"/>
                    <a:pt x="9810750" y="552196"/>
                  </a:cubicBezTo>
                  <a:lnTo>
                    <a:pt x="9810750" y="2761234"/>
                  </a:lnTo>
                  <a:cubicBezTo>
                    <a:pt x="9810750" y="3066288"/>
                    <a:pt x="9563481" y="3313430"/>
                    <a:pt x="9258554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9924336" y="5851741"/>
            <a:ext cx="6593557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2096" b="1" dirty="0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Future protocol</a:t>
            </a:r>
          </a:p>
          <a:p>
            <a:pPr algn="l">
              <a:lnSpc>
                <a:spcPts val="2335"/>
              </a:lnSpc>
            </a:pPr>
            <a:r>
              <a:rPr lang="en-US" sz="1946" dirty="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Going forward, any missed lecture should trigger a quick one hour catch-up booking.</a:t>
            </a:r>
          </a:p>
          <a:p>
            <a:pPr algn="l">
              <a:lnSpc>
                <a:spcPts val="2335"/>
              </a:lnSpc>
            </a:pPr>
            <a:r>
              <a:rPr lang="en-US" sz="1946" dirty="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The agreed routine keeps the learning plan tidy and avoids last-minute evidence gaps.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4392549" y="8510568"/>
            <a:ext cx="9540069" cy="480431"/>
            <a:chOff x="0" y="0"/>
            <a:chExt cx="12720091" cy="64057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720193" cy="640588"/>
            </a:xfrm>
            <a:custGeom>
              <a:avLst/>
              <a:gdLst/>
              <a:ahLst/>
              <a:cxnLst/>
              <a:rect l="l" t="t" r="r" b="b"/>
              <a:pathLst>
                <a:path w="12720193" h="640588">
                  <a:moveTo>
                    <a:pt x="0" y="106807"/>
                  </a:moveTo>
                  <a:cubicBezTo>
                    <a:pt x="0" y="47752"/>
                    <a:pt x="47752" y="0"/>
                    <a:pt x="106807" y="0"/>
                  </a:cubicBezTo>
                  <a:lnTo>
                    <a:pt x="12613386" y="0"/>
                  </a:lnTo>
                  <a:cubicBezTo>
                    <a:pt x="12672314" y="0"/>
                    <a:pt x="12720193" y="47752"/>
                    <a:pt x="12720193" y="106807"/>
                  </a:cubicBezTo>
                  <a:lnTo>
                    <a:pt x="12720193" y="533781"/>
                  </a:lnTo>
                  <a:cubicBezTo>
                    <a:pt x="12720193" y="592709"/>
                    <a:pt x="12672441" y="640588"/>
                    <a:pt x="12613386" y="640588"/>
                  </a:cubicBezTo>
                  <a:lnTo>
                    <a:pt x="106807" y="640588"/>
                  </a:lnTo>
                  <a:cubicBezTo>
                    <a:pt x="47752" y="640588"/>
                    <a:pt x="0" y="592836"/>
                    <a:pt x="0" y="533781"/>
                  </a:cubicBezTo>
                  <a:close/>
                </a:path>
              </a:pathLst>
            </a:custGeom>
            <a:solidFill>
              <a:srgbClr val="EF6925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4392549" y="8524294"/>
            <a:ext cx="9540069" cy="452980"/>
            <a:chOff x="0" y="0"/>
            <a:chExt cx="12720091" cy="60397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720098" cy="603974"/>
            </a:xfrm>
            <a:custGeom>
              <a:avLst/>
              <a:gdLst/>
              <a:ahLst/>
              <a:cxnLst/>
              <a:rect l="l" t="t" r="r" b="b"/>
              <a:pathLst>
                <a:path w="12720098" h="603974">
                  <a:moveTo>
                    <a:pt x="0" y="0"/>
                  </a:moveTo>
                  <a:lnTo>
                    <a:pt x="12720098" y="0"/>
                  </a:lnTo>
                  <a:lnTo>
                    <a:pt x="12720098" y="603974"/>
                  </a:lnTo>
                  <a:lnTo>
                    <a:pt x="0" y="60397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60367" b="-360367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12720091" cy="6134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09"/>
                </a:lnSpc>
              </a:pPr>
              <a:r>
                <a:rPr lang="en-US" sz="1591" b="1" dirty="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Practical action: February and March attendance catch-up booked for 20 July.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kbc_clean_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233353"/>
            <a:ext cx="2264912" cy="1052436"/>
            <a:chOff x="0" y="0"/>
            <a:chExt cx="3019882" cy="1403248"/>
          </a:xfrm>
        </p:grpSpPr>
        <p:sp>
          <p:nvSpPr>
            <p:cNvPr id="5" name="Freeform 5" descr="kbc_logo_transparent.png"/>
            <p:cNvSpPr/>
            <p:nvPr/>
          </p:nvSpPr>
          <p:spPr>
            <a:xfrm>
              <a:off x="0" y="0"/>
              <a:ext cx="3019933" cy="1403223"/>
            </a:xfrm>
            <a:custGeom>
              <a:avLst/>
              <a:gdLst/>
              <a:ahLst/>
              <a:cxnLst/>
              <a:rect l="l" t="t" r="r" b="b"/>
              <a:pathLst>
                <a:path w="3019933" h="1403223">
                  <a:moveTo>
                    <a:pt x="0" y="0"/>
                  </a:moveTo>
                  <a:lnTo>
                    <a:pt x="3019933" y="0"/>
                  </a:lnTo>
                  <a:lnTo>
                    <a:pt x="3019933" y="1403223"/>
                  </a:lnTo>
                  <a:lnTo>
                    <a:pt x="0" y="140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42568" y="384353"/>
            <a:ext cx="2127647" cy="359035"/>
            <a:chOff x="0" y="0"/>
            <a:chExt cx="2836862" cy="478714"/>
          </a:xfrm>
        </p:grpSpPr>
        <p:sp>
          <p:nvSpPr>
            <p:cNvPr id="7" name="Freeform 7" descr="spinnaker_logo_transparent.png"/>
            <p:cNvSpPr/>
            <p:nvPr/>
          </p:nvSpPr>
          <p:spPr>
            <a:xfrm>
              <a:off x="0" y="0"/>
              <a:ext cx="2836799" cy="478663"/>
            </a:xfrm>
            <a:custGeom>
              <a:avLst/>
              <a:gdLst/>
              <a:ahLst/>
              <a:cxnLst/>
              <a:rect l="l" t="t" r="r" b="b"/>
              <a:pathLst>
                <a:path w="2836799" h="478663">
                  <a:moveTo>
                    <a:pt x="0" y="0"/>
                  </a:moveTo>
                  <a:lnTo>
                    <a:pt x="2836799" y="0"/>
                  </a:lnTo>
                  <a:lnTo>
                    <a:pt x="2836799" y="478663"/>
                  </a:lnTo>
                  <a:lnTo>
                    <a:pt x="0" y="47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46411" y="9855003"/>
            <a:ext cx="16563727" cy="202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>
                <a:solidFill>
                  <a:srgbClr val="626C7D"/>
                </a:solidFill>
                <a:latin typeface="Calibri (MS)"/>
                <a:ea typeface="Calibri (MS)"/>
                <a:cs typeface="Calibri (MS)"/>
                <a:sym typeface="Calibri (MS)"/>
              </a:rPr>
              <a:t>Marketing Executive Level 4 Apprenticeship | Progress Review | Bethanie-Taylor Grenfell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83862" y="741578"/>
            <a:ext cx="11965267" cy="47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Programme Progress, OTJ &amp; LMS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11322" y="1390936"/>
            <a:ext cx="11828002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5"/>
              </a:lnSpc>
            </a:pPr>
            <a:r>
              <a:rPr lang="en-US" sz="1529">
                <a:solidFill>
                  <a:srgbClr val="60696C"/>
                </a:solidFill>
                <a:latin typeface="Aptos"/>
                <a:ea typeface="Aptos"/>
                <a:cs typeface="Aptos"/>
                <a:sym typeface="Aptos"/>
              </a:rPr>
              <a:t>Strong learning volume; the dashboard now needs to reflect the work already completed.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90984" y="2395023"/>
            <a:ext cx="7975797" cy="3102807"/>
            <a:chOff x="0" y="0"/>
            <a:chExt cx="10634396" cy="41370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34345" cy="4137025"/>
            </a:xfrm>
            <a:custGeom>
              <a:avLst/>
              <a:gdLst/>
              <a:ahLst/>
              <a:cxnLst/>
              <a:rect l="l" t="t" r="r" b="b"/>
              <a:pathLst>
                <a:path w="10634345" h="4137025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9944862" y="0"/>
                  </a:lnTo>
                  <a:cubicBezTo>
                    <a:pt x="10325735" y="0"/>
                    <a:pt x="10634345" y="308737"/>
                    <a:pt x="10634345" y="689483"/>
                  </a:cubicBezTo>
                  <a:lnTo>
                    <a:pt x="10634345" y="3447542"/>
                  </a:lnTo>
                  <a:cubicBezTo>
                    <a:pt x="10634345" y="3828415"/>
                    <a:pt x="10325608" y="4137025"/>
                    <a:pt x="9944862" y="4137025"/>
                  </a:cubicBezTo>
                  <a:lnTo>
                    <a:pt x="689483" y="4137025"/>
                  </a:lnTo>
                  <a:cubicBezTo>
                    <a:pt x="308737" y="4137025"/>
                    <a:pt x="0" y="3828415"/>
                    <a:pt x="0" y="344754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441304" y="2667191"/>
            <a:ext cx="7275166" cy="380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Programme progress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441304" y="3500314"/>
            <a:ext cx="6382931" cy="466706"/>
            <a:chOff x="0" y="0"/>
            <a:chExt cx="8510575" cy="6222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510651" cy="622300"/>
            </a:xfrm>
            <a:custGeom>
              <a:avLst/>
              <a:gdLst/>
              <a:ahLst/>
              <a:cxnLst/>
              <a:rect l="l" t="t" r="r" b="b"/>
              <a:pathLst>
                <a:path w="8510651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8406892" y="0"/>
                  </a:lnTo>
                  <a:cubicBezTo>
                    <a:pt x="8464169" y="0"/>
                    <a:pt x="8510651" y="46482"/>
                    <a:pt x="8510651" y="103759"/>
                  </a:cubicBezTo>
                  <a:lnTo>
                    <a:pt x="8510651" y="518541"/>
                  </a:lnTo>
                  <a:cubicBezTo>
                    <a:pt x="8510651" y="575818"/>
                    <a:pt x="8464169" y="622300"/>
                    <a:pt x="8406892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441304" y="3500314"/>
            <a:ext cx="4723362" cy="466706"/>
            <a:chOff x="0" y="0"/>
            <a:chExt cx="6297816" cy="62227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297803" cy="622300"/>
            </a:xfrm>
            <a:custGeom>
              <a:avLst/>
              <a:gdLst/>
              <a:ahLst/>
              <a:cxnLst/>
              <a:rect l="l" t="t" r="r" b="b"/>
              <a:pathLst>
                <a:path w="6297803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6194044" y="0"/>
                  </a:lnTo>
                  <a:cubicBezTo>
                    <a:pt x="6251321" y="0"/>
                    <a:pt x="6297803" y="46482"/>
                    <a:pt x="6297803" y="103759"/>
                  </a:cubicBezTo>
                  <a:lnTo>
                    <a:pt x="6297803" y="518541"/>
                  </a:lnTo>
                  <a:cubicBezTo>
                    <a:pt x="6297803" y="575818"/>
                    <a:pt x="6251321" y="622300"/>
                    <a:pt x="6194044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EF6925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441304" y="3147622"/>
            <a:ext cx="6382931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1" dirty="0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Current: 75%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88951" y="3363049"/>
            <a:ext cx="754971" cy="364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 dirty="0">
                <a:solidFill>
                  <a:srgbClr val="EF6925"/>
                </a:solidFill>
                <a:latin typeface="Aptos Bold"/>
                <a:ea typeface="Aptos Bold"/>
                <a:cs typeface="Aptos Bold"/>
                <a:sym typeface="Aptos Bold"/>
              </a:rPr>
              <a:t>75%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441304" y="4365098"/>
            <a:ext cx="6382931" cy="301990"/>
            <a:chOff x="0" y="0"/>
            <a:chExt cx="8510575" cy="40265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510525" cy="402590"/>
            </a:xfrm>
            <a:custGeom>
              <a:avLst/>
              <a:gdLst/>
              <a:ahLst/>
              <a:cxnLst/>
              <a:rect l="l" t="t" r="r" b="b"/>
              <a:pathLst>
                <a:path w="8510525" h="402590">
                  <a:moveTo>
                    <a:pt x="0" y="67056"/>
                  </a:moveTo>
                  <a:cubicBezTo>
                    <a:pt x="0" y="30099"/>
                    <a:pt x="30099" y="0"/>
                    <a:pt x="67056" y="0"/>
                  </a:cubicBezTo>
                  <a:lnTo>
                    <a:pt x="8443468" y="0"/>
                  </a:lnTo>
                  <a:cubicBezTo>
                    <a:pt x="8480552" y="0"/>
                    <a:pt x="8510525" y="30099"/>
                    <a:pt x="8510525" y="67056"/>
                  </a:cubicBezTo>
                  <a:lnTo>
                    <a:pt x="8510525" y="335534"/>
                  </a:lnTo>
                  <a:cubicBezTo>
                    <a:pt x="8510525" y="372618"/>
                    <a:pt x="8480425" y="402590"/>
                    <a:pt x="8443468" y="402590"/>
                  </a:cubicBezTo>
                  <a:lnTo>
                    <a:pt x="67056" y="402590"/>
                  </a:lnTo>
                  <a:cubicBezTo>
                    <a:pt x="30099" y="402590"/>
                    <a:pt x="0" y="372618"/>
                    <a:pt x="0" y="335534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441304" y="4365098"/>
            <a:ext cx="4787198" cy="301990"/>
            <a:chOff x="0" y="0"/>
            <a:chExt cx="6382931" cy="40265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82893" cy="402590"/>
            </a:xfrm>
            <a:custGeom>
              <a:avLst/>
              <a:gdLst/>
              <a:ahLst/>
              <a:cxnLst/>
              <a:rect l="l" t="t" r="r" b="b"/>
              <a:pathLst>
                <a:path w="6382893" h="402590">
                  <a:moveTo>
                    <a:pt x="0" y="67056"/>
                  </a:moveTo>
                  <a:cubicBezTo>
                    <a:pt x="0" y="30099"/>
                    <a:pt x="30099" y="0"/>
                    <a:pt x="67056" y="0"/>
                  </a:cubicBezTo>
                  <a:lnTo>
                    <a:pt x="6315837" y="0"/>
                  </a:lnTo>
                  <a:cubicBezTo>
                    <a:pt x="6352921" y="0"/>
                    <a:pt x="6382893" y="30099"/>
                    <a:pt x="6382893" y="67056"/>
                  </a:cubicBezTo>
                  <a:lnTo>
                    <a:pt x="6382893" y="335534"/>
                  </a:lnTo>
                  <a:cubicBezTo>
                    <a:pt x="6382893" y="372618"/>
                    <a:pt x="6352794" y="402590"/>
                    <a:pt x="6315837" y="402590"/>
                  </a:cubicBezTo>
                  <a:lnTo>
                    <a:pt x="67056" y="402590"/>
                  </a:lnTo>
                  <a:cubicBezTo>
                    <a:pt x="30099" y="402590"/>
                    <a:pt x="0" y="372618"/>
                    <a:pt x="0" y="335534"/>
                  </a:cubicBezTo>
                  <a:close/>
                </a:path>
              </a:pathLst>
            </a:custGeom>
            <a:solidFill>
              <a:srgbClr val="5D49D8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441304" y="4012406"/>
            <a:ext cx="6382931" cy="284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1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Target: 75%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88951" y="4186647"/>
            <a:ext cx="754971" cy="617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1">
                <a:solidFill>
                  <a:srgbClr val="5D49D8"/>
                </a:solidFill>
                <a:latin typeface="Aptos Bold"/>
                <a:ea typeface="Aptos Bold"/>
                <a:cs typeface="Aptos Bold"/>
                <a:sym typeface="Aptos Bold"/>
              </a:rPr>
              <a:t>75%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41304" y="4849739"/>
            <a:ext cx="7000627" cy="212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79" b="1" dirty="0">
                <a:solidFill>
                  <a:srgbClr val="626C7D"/>
                </a:solidFill>
                <a:latin typeface="Aptos Bold"/>
                <a:ea typeface="Aptos Bold"/>
                <a:cs typeface="Aptos Bold"/>
                <a:sym typeface="Aptos Bold"/>
              </a:rPr>
              <a:t>Bethanie is  on track with progress.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532925" y="2395023"/>
            <a:ext cx="7769895" cy="3102807"/>
            <a:chOff x="0" y="0"/>
            <a:chExt cx="10359860" cy="413707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359771" cy="4137025"/>
            </a:xfrm>
            <a:custGeom>
              <a:avLst/>
              <a:gdLst/>
              <a:ahLst/>
              <a:cxnLst/>
              <a:rect l="l" t="t" r="r" b="b"/>
              <a:pathLst>
                <a:path w="10359771" h="4137025">
                  <a:moveTo>
                    <a:pt x="0" y="689483"/>
                  </a:moveTo>
                  <a:cubicBezTo>
                    <a:pt x="0" y="308737"/>
                    <a:pt x="308737" y="0"/>
                    <a:pt x="689483" y="0"/>
                  </a:cubicBezTo>
                  <a:lnTo>
                    <a:pt x="9670288" y="0"/>
                  </a:lnTo>
                  <a:cubicBezTo>
                    <a:pt x="10051161" y="0"/>
                    <a:pt x="10359771" y="308737"/>
                    <a:pt x="10359771" y="689483"/>
                  </a:cubicBezTo>
                  <a:lnTo>
                    <a:pt x="10359771" y="3447542"/>
                  </a:lnTo>
                  <a:cubicBezTo>
                    <a:pt x="10359771" y="3828415"/>
                    <a:pt x="10051034" y="4137025"/>
                    <a:pt x="9670288" y="4137025"/>
                  </a:cubicBezTo>
                  <a:lnTo>
                    <a:pt x="689483" y="4137025"/>
                  </a:lnTo>
                  <a:cubicBezTo>
                    <a:pt x="308737" y="4137025"/>
                    <a:pt x="0" y="3828415"/>
                    <a:pt x="0" y="344754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9883245" y="2667191"/>
            <a:ext cx="7000627" cy="380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Off-the-Job hours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876092" y="3218631"/>
            <a:ext cx="2347846" cy="1592875"/>
            <a:chOff x="0" y="0"/>
            <a:chExt cx="3130461" cy="212383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130423" cy="2123821"/>
            </a:xfrm>
            <a:custGeom>
              <a:avLst/>
              <a:gdLst/>
              <a:ahLst/>
              <a:cxnLst/>
              <a:rect l="l" t="t" r="r" b="b"/>
              <a:pathLst>
                <a:path w="3130423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2776474" y="0"/>
                  </a:lnTo>
                  <a:cubicBezTo>
                    <a:pt x="2971927" y="0"/>
                    <a:pt x="3130423" y="158496"/>
                    <a:pt x="3130423" y="353949"/>
                  </a:cubicBezTo>
                  <a:lnTo>
                    <a:pt x="3130423" y="1769872"/>
                  </a:lnTo>
                  <a:cubicBezTo>
                    <a:pt x="3130423" y="1965325"/>
                    <a:pt x="2971927" y="2123821"/>
                    <a:pt x="2776474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9951872" y="3294412"/>
            <a:ext cx="2196274" cy="192176"/>
            <a:chOff x="0" y="0"/>
            <a:chExt cx="2928366" cy="25623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928366" cy="256160"/>
            </a:xfrm>
            <a:custGeom>
              <a:avLst/>
              <a:gdLst/>
              <a:ahLst/>
              <a:cxnLst/>
              <a:rect l="l" t="t" r="r" b="b"/>
              <a:pathLst>
                <a:path w="2928366" h="256160">
                  <a:moveTo>
                    <a:pt x="0" y="42672"/>
                  </a:moveTo>
                  <a:cubicBezTo>
                    <a:pt x="0" y="19177"/>
                    <a:pt x="19177" y="0"/>
                    <a:pt x="42672" y="0"/>
                  </a:cubicBezTo>
                  <a:lnTo>
                    <a:pt x="2885694" y="0"/>
                  </a:lnTo>
                  <a:cubicBezTo>
                    <a:pt x="2909316" y="0"/>
                    <a:pt x="2928366" y="19177"/>
                    <a:pt x="2928366" y="42672"/>
                  </a:cubicBezTo>
                  <a:lnTo>
                    <a:pt x="2928366" y="213487"/>
                  </a:lnTo>
                  <a:cubicBezTo>
                    <a:pt x="2928366" y="237109"/>
                    <a:pt x="2909189" y="256159"/>
                    <a:pt x="2885694" y="256159"/>
                  </a:cubicBezTo>
                  <a:lnTo>
                    <a:pt x="42672" y="256159"/>
                  </a:lnTo>
                  <a:cubicBezTo>
                    <a:pt x="19177" y="256286"/>
                    <a:pt x="0" y="237109"/>
                    <a:pt x="0" y="213487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10047961" y="3619652"/>
            <a:ext cx="2004098" cy="56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16A34A"/>
                </a:solidFill>
                <a:latin typeface="Aptos Bold"/>
                <a:ea typeface="Aptos Bold"/>
                <a:cs typeface="Aptos Bold"/>
                <a:sym typeface="Aptos Bold"/>
              </a:rPr>
              <a:t>195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020510" y="4323921"/>
            <a:ext cx="2059010" cy="5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Total hours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2415533" y="3218631"/>
            <a:ext cx="2347846" cy="1592875"/>
            <a:chOff x="0" y="0"/>
            <a:chExt cx="3130461" cy="212383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130423" cy="2123821"/>
            </a:xfrm>
            <a:custGeom>
              <a:avLst/>
              <a:gdLst/>
              <a:ahLst/>
              <a:cxnLst/>
              <a:rect l="l" t="t" r="r" b="b"/>
              <a:pathLst>
                <a:path w="3130423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2776474" y="0"/>
                  </a:lnTo>
                  <a:cubicBezTo>
                    <a:pt x="2971927" y="0"/>
                    <a:pt x="3130423" y="158496"/>
                    <a:pt x="3130423" y="353949"/>
                  </a:cubicBezTo>
                  <a:lnTo>
                    <a:pt x="3130423" y="1769872"/>
                  </a:lnTo>
                  <a:cubicBezTo>
                    <a:pt x="3130423" y="1965325"/>
                    <a:pt x="2971927" y="2123821"/>
                    <a:pt x="2776474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2491323" y="3294412"/>
            <a:ext cx="2196274" cy="192176"/>
            <a:chOff x="0" y="0"/>
            <a:chExt cx="2928366" cy="25623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928366" cy="256160"/>
            </a:xfrm>
            <a:custGeom>
              <a:avLst/>
              <a:gdLst/>
              <a:ahLst/>
              <a:cxnLst/>
              <a:rect l="l" t="t" r="r" b="b"/>
              <a:pathLst>
                <a:path w="2928366" h="256160">
                  <a:moveTo>
                    <a:pt x="0" y="42672"/>
                  </a:moveTo>
                  <a:cubicBezTo>
                    <a:pt x="0" y="19177"/>
                    <a:pt x="19177" y="0"/>
                    <a:pt x="42672" y="0"/>
                  </a:cubicBezTo>
                  <a:lnTo>
                    <a:pt x="2885694" y="0"/>
                  </a:lnTo>
                  <a:cubicBezTo>
                    <a:pt x="2909316" y="0"/>
                    <a:pt x="2928366" y="19177"/>
                    <a:pt x="2928366" y="42672"/>
                  </a:cubicBezTo>
                  <a:lnTo>
                    <a:pt x="2928366" y="213487"/>
                  </a:lnTo>
                  <a:cubicBezTo>
                    <a:pt x="2928366" y="237109"/>
                    <a:pt x="2909189" y="256159"/>
                    <a:pt x="2885694" y="256159"/>
                  </a:cubicBezTo>
                  <a:lnTo>
                    <a:pt x="42672" y="256159"/>
                  </a:lnTo>
                  <a:cubicBezTo>
                    <a:pt x="19177" y="256286"/>
                    <a:pt x="0" y="237109"/>
                    <a:pt x="0" y="213487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12587402" y="3619652"/>
            <a:ext cx="2004098" cy="56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16A34A"/>
                </a:solidFill>
                <a:latin typeface="Aptos Bold"/>
                <a:ea typeface="Aptos Bold"/>
                <a:cs typeface="Aptos Bold"/>
                <a:sym typeface="Aptos Bold"/>
              </a:rPr>
              <a:t>+42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559951" y="4323921"/>
            <a:ext cx="2059010" cy="5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Ahead of track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4954983" y="3218631"/>
            <a:ext cx="1661503" cy="1592875"/>
            <a:chOff x="0" y="0"/>
            <a:chExt cx="2215337" cy="212383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215261" cy="2123821"/>
            </a:xfrm>
            <a:custGeom>
              <a:avLst/>
              <a:gdLst/>
              <a:ahLst/>
              <a:cxnLst/>
              <a:rect l="l" t="t" r="r" b="b"/>
              <a:pathLst>
                <a:path w="2215261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1861312" y="0"/>
                  </a:lnTo>
                  <a:cubicBezTo>
                    <a:pt x="2056765" y="0"/>
                    <a:pt x="2215261" y="158496"/>
                    <a:pt x="2215261" y="353949"/>
                  </a:cubicBezTo>
                  <a:lnTo>
                    <a:pt x="2215261" y="1769872"/>
                  </a:lnTo>
                  <a:cubicBezTo>
                    <a:pt x="2215261" y="1965325"/>
                    <a:pt x="2056765" y="2123821"/>
                    <a:pt x="1861312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5030764" y="3294412"/>
            <a:ext cx="1509941" cy="192176"/>
            <a:chOff x="0" y="0"/>
            <a:chExt cx="2013255" cy="25623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013204" cy="256160"/>
            </a:xfrm>
            <a:custGeom>
              <a:avLst/>
              <a:gdLst/>
              <a:ahLst/>
              <a:cxnLst/>
              <a:rect l="l" t="t" r="r" b="b"/>
              <a:pathLst>
                <a:path w="2013204" h="256160">
                  <a:moveTo>
                    <a:pt x="0" y="42672"/>
                  </a:moveTo>
                  <a:cubicBezTo>
                    <a:pt x="0" y="19177"/>
                    <a:pt x="19177" y="0"/>
                    <a:pt x="42672" y="0"/>
                  </a:cubicBezTo>
                  <a:lnTo>
                    <a:pt x="1970532" y="0"/>
                  </a:lnTo>
                  <a:cubicBezTo>
                    <a:pt x="1994154" y="0"/>
                    <a:pt x="2013204" y="19177"/>
                    <a:pt x="2013204" y="42672"/>
                  </a:cubicBezTo>
                  <a:lnTo>
                    <a:pt x="2013204" y="213487"/>
                  </a:lnTo>
                  <a:cubicBezTo>
                    <a:pt x="2013204" y="237109"/>
                    <a:pt x="1994027" y="256159"/>
                    <a:pt x="1970532" y="256159"/>
                  </a:cubicBezTo>
                  <a:lnTo>
                    <a:pt x="42672" y="256159"/>
                  </a:lnTo>
                  <a:cubicBezTo>
                    <a:pt x="19177" y="256286"/>
                    <a:pt x="0" y="237109"/>
                    <a:pt x="0" y="213487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id="46" name="TextBox 46"/>
          <p:cNvSpPr txBox="1"/>
          <p:nvPr/>
        </p:nvSpPr>
        <p:spPr>
          <a:xfrm>
            <a:off x="15126853" y="3543452"/>
            <a:ext cx="1317765" cy="643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099392" y="4323921"/>
            <a:ext cx="1372676" cy="5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Healthy pace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883245" y="4863465"/>
            <a:ext cx="6657461" cy="393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3"/>
              </a:lnSpc>
            </a:pPr>
            <a:r>
              <a:rPr lang="en-US" sz="1260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Hours look proportionate to the scale of live workplace projects and are not exaggerated.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090984" y="5840730"/>
            <a:ext cx="16211836" cy="2141944"/>
            <a:chOff x="0" y="0"/>
            <a:chExt cx="21615781" cy="285592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615781" cy="2855976"/>
            </a:xfrm>
            <a:custGeom>
              <a:avLst/>
              <a:gdLst/>
              <a:ahLst/>
              <a:cxnLst/>
              <a:rect l="l" t="t" r="r" b="b"/>
              <a:pathLst>
                <a:path w="21615781" h="2855976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21139786" y="0"/>
                  </a:lnTo>
                  <a:cubicBezTo>
                    <a:pt x="21402675" y="0"/>
                    <a:pt x="21615781" y="213106"/>
                    <a:pt x="21615781" y="475996"/>
                  </a:cubicBezTo>
                  <a:lnTo>
                    <a:pt x="21615781" y="2379980"/>
                  </a:lnTo>
                  <a:cubicBezTo>
                    <a:pt x="21615781" y="2642870"/>
                    <a:pt x="21402675" y="2855976"/>
                    <a:pt x="21139786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sp>
        <p:nvSpPr>
          <p:cNvPr id="51" name="TextBox 51"/>
          <p:cNvSpPr txBox="1"/>
          <p:nvPr/>
        </p:nvSpPr>
        <p:spPr>
          <a:xfrm>
            <a:off x="1441304" y="6382931"/>
            <a:ext cx="1784471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1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LMS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3363049" y="6369196"/>
            <a:ext cx="3431677" cy="384353"/>
            <a:chOff x="0" y="0"/>
            <a:chExt cx="4575569" cy="51247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575683" cy="512572"/>
            </a:xfrm>
            <a:custGeom>
              <a:avLst/>
              <a:gdLst/>
              <a:ahLst/>
              <a:cxnLst/>
              <a:rect l="l" t="t" r="r" b="b"/>
              <a:pathLst>
                <a:path w="4575683" h="512572">
                  <a:moveTo>
                    <a:pt x="0" y="85471"/>
                  </a:moveTo>
                  <a:cubicBezTo>
                    <a:pt x="0" y="38227"/>
                    <a:pt x="38227" y="0"/>
                    <a:pt x="85471" y="0"/>
                  </a:cubicBezTo>
                  <a:lnTo>
                    <a:pt x="4490212" y="0"/>
                  </a:lnTo>
                  <a:cubicBezTo>
                    <a:pt x="4537329" y="0"/>
                    <a:pt x="4575683" y="38227"/>
                    <a:pt x="4575683" y="85471"/>
                  </a:cubicBezTo>
                  <a:lnTo>
                    <a:pt x="4575683" y="427101"/>
                  </a:lnTo>
                  <a:cubicBezTo>
                    <a:pt x="4575683" y="474218"/>
                    <a:pt x="4537456" y="512572"/>
                    <a:pt x="4490212" y="512572"/>
                  </a:cubicBezTo>
                  <a:lnTo>
                    <a:pt x="85471" y="512572"/>
                  </a:lnTo>
                  <a:cubicBezTo>
                    <a:pt x="38227" y="512445"/>
                    <a:pt x="0" y="474218"/>
                    <a:pt x="0" y="427101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3363049" y="6369196"/>
            <a:ext cx="3431677" cy="384353"/>
            <a:chOff x="0" y="0"/>
            <a:chExt cx="4575569" cy="51247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575683" cy="512572"/>
            </a:xfrm>
            <a:custGeom>
              <a:avLst/>
              <a:gdLst/>
              <a:ahLst/>
              <a:cxnLst/>
              <a:rect l="l" t="t" r="r" b="b"/>
              <a:pathLst>
                <a:path w="4575683" h="512572">
                  <a:moveTo>
                    <a:pt x="0" y="85471"/>
                  </a:moveTo>
                  <a:cubicBezTo>
                    <a:pt x="0" y="38227"/>
                    <a:pt x="38227" y="0"/>
                    <a:pt x="85471" y="0"/>
                  </a:cubicBezTo>
                  <a:lnTo>
                    <a:pt x="4490212" y="0"/>
                  </a:lnTo>
                  <a:cubicBezTo>
                    <a:pt x="4537329" y="0"/>
                    <a:pt x="4575683" y="38227"/>
                    <a:pt x="4575683" y="85471"/>
                  </a:cubicBezTo>
                  <a:lnTo>
                    <a:pt x="4575683" y="427101"/>
                  </a:lnTo>
                  <a:cubicBezTo>
                    <a:pt x="4575683" y="474218"/>
                    <a:pt x="4537456" y="512572"/>
                    <a:pt x="4490212" y="512572"/>
                  </a:cubicBezTo>
                  <a:lnTo>
                    <a:pt x="85471" y="512572"/>
                  </a:lnTo>
                  <a:cubicBezTo>
                    <a:pt x="38227" y="512445"/>
                    <a:pt x="0" y="474218"/>
                    <a:pt x="0" y="427101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id="56" name="TextBox 56"/>
          <p:cNvSpPr txBox="1"/>
          <p:nvPr/>
        </p:nvSpPr>
        <p:spPr>
          <a:xfrm>
            <a:off x="3363049" y="6016504"/>
            <a:ext cx="3431677" cy="284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1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KSBs course 100%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7275166" y="6369196"/>
            <a:ext cx="3431677" cy="384353"/>
            <a:chOff x="0" y="0"/>
            <a:chExt cx="4575569" cy="51247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575683" cy="512572"/>
            </a:xfrm>
            <a:custGeom>
              <a:avLst/>
              <a:gdLst/>
              <a:ahLst/>
              <a:cxnLst/>
              <a:rect l="l" t="t" r="r" b="b"/>
              <a:pathLst>
                <a:path w="4575683" h="512572">
                  <a:moveTo>
                    <a:pt x="0" y="85471"/>
                  </a:moveTo>
                  <a:cubicBezTo>
                    <a:pt x="0" y="38227"/>
                    <a:pt x="38227" y="0"/>
                    <a:pt x="85471" y="0"/>
                  </a:cubicBezTo>
                  <a:lnTo>
                    <a:pt x="4490212" y="0"/>
                  </a:lnTo>
                  <a:cubicBezTo>
                    <a:pt x="4537329" y="0"/>
                    <a:pt x="4575683" y="38227"/>
                    <a:pt x="4575683" y="85471"/>
                  </a:cubicBezTo>
                  <a:lnTo>
                    <a:pt x="4575683" y="427101"/>
                  </a:lnTo>
                  <a:cubicBezTo>
                    <a:pt x="4575683" y="474218"/>
                    <a:pt x="4537456" y="512572"/>
                    <a:pt x="4490212" y="512572"/>
                  </a:cubicBezTo>
                  <a:lnTo>
                    <a:pt x="85471" y="512572"/>
                  </a:lnTo>
                  <a:cubicBezTo>
                    <a:pt x="38227" y="512445"/>
                    <a:pt x="0" y="474218"/>
                    <a:pt x="0" y="427101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7275166" y="6369196"/>
            <a:ext cx="754971" cy="384353"/>
            <a:chOff x="0" y="0"/>
            <a:chExt cx="1006627" cy="51247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06729" cy="512572"/>
            </a:xfrm>
            <a:custGeom>
              <a:avLst/>
              <a:gdLst/>
              <a:ahLst/>
              <a:cxnLst/>
              <a:rect l="l" t="t" r="r" b="b"/>
              <a:pathLst>
                <a:path w="1006729" h="512572">
                  <a:moveTo>
                    <a:pt x="0" y="85471"/>
                  </a:moveTo>
                  <a:cubicBezTo>
                    <a:pt x="0" y="38227"/>
                    <a:pt x="38227" y="0"/>
                    <a:pt x="85471" y="0"/>
                  </a:cubicBezTo>
                  <a:lnTo>
                    <a:pt x="921258" y="0"/>
                  </a:lnTo>
                  <a:cubicBezTo>
                    <a:pt x="968375" y="0"/>
                    <a:pt x="1006729" y="38227"/>
                    <a:pt x="1006729" y="85471"/>
                  </a:cubicBezTo>
                  <a:lnTo>
                    <a:pt x="1006729" y="427101"/>
                  </a:lnTo>
                  <a:cubicBezTo>
                    <a:pt x="1006729" y="474218"/>
                    <a:pt x="968502" y="512572"/>
                    <a:pt x="921258" y="512572"/>
                  </a:cubicBezTo>
                  <a:lnTo>
                    <a:pt x="85471" y="512572"/>
                  </a:lnTo>
                  <a:cubicBezTo>
                    <a:pt x="38227" y="512445"/>
                    <a:pt x="0" y="474218"/>
                    <a:pt x="0" y="427101"/>
                  </a:cubicBezTo>
                  <a:close/>
                </a:path>
              </a:pathLst>
            </a:custGeom>
            <a:solidFill>
              <a:srgbClr val="EF6925"/>
            </a:solidFill>
          </p:spPr>
        </p:sp>
      </p:grpSp>
      <p:sp>
        <p:nvSpPr>
          <p:cNvPr id="61" name="TextBox 61"/>
          <p:cNvSpPr txBox="1"/>
          <p:nvPr/>
        </p:nvSpPr>
        <p:spPr>
          <a:xfrm>
            <a:off x="7275166" y="6016504"/>
            <a:ext cx="3431677" cy="284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1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Impact &amp; Planning 22%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11187284" y="6369196"/>
            <a:ext cx="3431677" cy="384353"/>
            <a:chOff x="0" y="0"/>
            <a:chExt cx="4575569" cy="51247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575683" cy="512572"/>
            </a:xfrm>
            <a:custGeom>
              <a:avLst/>
              <a:gdLst/>
              <a:ahLst/>
              <a:cxnLst/>
              <a:rect l="l" t="t" r="r" b="b"/>
              <a:pathLst>
                <a:path w="4575683" h="512572">
                  <a:moveTo>
                    <a:pt x="0" y="85471"/>
                  </a:moveTo>
                  <a:cubicBezTo>
                    <a:pt x="0" y="38227"/>
                    <a:pt x="38227" y="0"/>
                    <a:pt x="85471" y="0"/>
                  </a:cubicBezTo>
                  <a:lnTo>
                    <a:pt x="4490212" y="0"/>
                  </a:lnTo>
                  <a:cubicBezTo>
                    <a:pt x="4537329" y="0"/>
                    <a:pt x="4575683" y="38227"/>
                    <a:pt x="4575683" y="85471"/>
                  </a:cubicBezTo>
                  <a:lnTo>
                    <a:pt x="4575683" y="427101"/>
                  </a:lnTo>
                  <a:cubicBezTo>
                    <a:pt x="4575683" y="474218"/>
                    <a:pt x="4537456" y="512572"/>
                    <a:pt x="4490212" y="512572"/>
                  </a:cubicBezTo>
                  <a:lnTo>
                    <a:pt x="85471" y="512572"/>
                  </a:lnTo>
                  <a:cubicBezTo>
                    <a:pt x="38227" y="512445"/>
                    <a:pt x="0" y="474218"/>
                    <a:pt x="0" y="427101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11187284" y="6369196"/>
            <a:ext cx="13726" cy="384353"/>
            <a:chOff x="0" y="0"/>
            <a:chExt cx="18301" cy="51247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8288" cy="512445"/>
            </a:xfrm>
            <a:custGeom>
              <a:avLst/>
              <a:gdLst/>
              <a:ahLst/>
              <a:cxnLst/>
              <a:rect l="l" t="t" r="r" b="b"/>
              <a:pathLst>
                <a:path w="18288" h="512445">
                  <a:moveTo>
                    <a:pt x="0" y="3048"/>
                  </a:moveTo>
                  <a:cubicBezTo>
                    <a:pt x="0" y="1397"/>
                    <a:pt x="1397" y="0"/>
                    <a:pt x="3048" y="0"/>
                  </a:cubicBezTo>
                  <a:lnTo>
                    <a:pt x="15240" y="0"/>
                  </a:lnTo>
                  <a:cubicBezTo>
                    <a:pt x="16891" y="0"/>
                    <a:pt x="18288" y="1397"/>
                    <a:pt x="18288" y="3048"/>
                  </a:cubicBezTo>
                  <a:lnTo>
                    <a:pt x="18288" y="509397"/>
                  </a:lnTo>
                  <a:cubicBezTo>
                    <a:pt x="18288" y="511048"/>
                    <a:pt x="16891" y="512445"/>
                    <a:pt x="15240" y="512445"/>
                  </a:cubicBezTo>
                  <a:lnTo>
                    <a:pt x="3048" y="512445"/>
                  </a:lnTo>
                  <a:cubicBezTo>
                    <a:pt x="1397" y="512445"/>
                    <a:pt x="0" y="511048"/>
                    <a:pt x="0" y="509397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id="66" name="TextBox 66"/>
          <p:cNvSpPr txBox="1"/>
          <p:nvPr/>
        </p:nvSpPr>
        <p:spPr>
          <a:xfrm>
            <a:off x="11187284" y="6016504"/>
            <a:ext cx="3431677" cy="284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1">
                <a:solidFill>
                  <a:srgbClr val="1F2937"/>
                </a:solidFill>
                <a:latin typeface="Aptos Bold"/>
                <a:ea typeface="Aptos Bold"/>
                <a:cs typeface="Aptos Bold"/>
                <a:sym typeface="Aptos Bold"/>
              </a:rPr>
              <a:t>Social Media 0%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551032" y="7183231"/>
            <a:ext cx="1482959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5"/>
              </a:lnSpc>
            </a:pPr>
            <a:endParaRPr/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Action: click “complete” after each LMS activity so progress updates accurately and the evidence trail reflects the learning already done.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kbc_clean_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233353"/>
            <a:ext cx="2264912" cy="1052436"/>
            <a:chOff x="0" y="0"/>
            <a:chExt cx="3019882" cy="1403248"/>
          </a:xfrm>
        </p:grpSpPr>
        <p:sp>
          <p:nvSpPr>
            <p:cNvPr id="5" name="Freeform 5" descr="kbc_logo_transparent.png"/>
            <p:cNvSpPr/>
            <p:nvPr/>
          </p:nvSpPr>
          <p:spPr>
            <a:xfrm>
              <a:off x="0" y="0"/>
              <a:ext cx="3019933" cy="1403223"/>
            </a:xfrm>
            <a:custGeom>
              <a:avLst/>
              <a:gdLst/>
              <a:ahLst/>
              <a:cxnLst/>
              <a:rect l="l" t="t" r="r" b="b"/>
              <a:pathLst>
                <a:path w="3019933" h="1403223">
                  <a:moveTo>
                    <a:pt x="0" y="0"/>
                  </a:moveTo>
                  <a:lnTo>
                    <a:pt x="3019933" y="0"/>
                  </a:lnTo>
                  <a:lnTo>
                    <a:pt x="3019933" y="1403223"/>
                  </a:lnTo>
                  <a:lnTo>
                    <a:pt x="0" y="140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42568" y="384353"/>
            <a:ext cx="2127647" cy="359035"/>
            <a:chOff x="0" y="0"/>
            <a:chExt cx="2836862" cy="478714"/>
          </a:xfrm>
        </p:grpSpPr>
        <p:sp>
          <p:nvSpPr>
            <p:cNvPr id="7" name="Freeform 7" descr="spinnaker_logo_transparent.png"/>
            <p:cNvSpPr/>
            <p:nvPr/>
          </p:nvSpPr>
          <p:spPr>
            <a:xfrm>
              <a:off x="0" y="0"/>
              <a:ext cx="2836799" cy="478663"/>
            </a:xfrm>
            <a:custGeom>
              <a:avLst/>
              <a:gdLst/>
              <a:ahLst/>
              <a:cxnLst/>
              <a:rect l="l" t="t" r="r" b="b"/>
              <a:pathLst>
                <a:path w="2836799" h="478663">
                  <a:moveTo>
                    <a:pt x="0" y="0"/>
                  </a:moveTo>
                  <a:lnTo>
                    <a:pt x="2836799" y="0"/>
                  </a:lnTo>
                  <a:lnTo>
                    <a:pt x="2836799" y="478663"/>
                  </a:lnTo>
                  <a:lnTo>
                    <a:pt x="0" y="47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46411" y="9855003"/>
            <a:ext cx="16563727" cy="202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>
                <a:solidFill>
                  <a:srgbClr val="626C7D"/>
                </a:solidFill>
                <a:latin typeface="Calibri (MS)"/>
                <a:ea typeface="Calibri (MS)"/>
                <a:cs typeface="Calibri (MS)"/>
                <a:sym typeface="Calibri (MS)"/>
              </a:rPr>
              <a:t>Marketing Executive Level 4 Apprenticeship | Progress Review | Bethanie-Taylor Grenfell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83862" y="741578"/>
            <a:ext cx="11965267" cy="47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EPA Readiness &amp; Evidence Admin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11322" y="1390936"/>
            <a:ext cx="11828002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5"/>
              </a:lnSpc>
            </a:pPr>
            <a:r>
              <a:rPr lang="en-US" sz="1529">
                <a:solidFill>
                  <a:srgbClr val="60696C"/>
                </a:solidFill>
                <a:latin typeface="Aptos"/>
                <a:ea typeface="Aptos"/>
                <a:cs typeface="Aptos"/>
                <a:sym typeface="Aptos"/>
              </a:rPr>
              <a:t>The portfolio content is promising; the main risk is making sure all evidence is uploaded, named and verified.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28258" y="2326396"/>
            <a:ext cx="4887287" cy="2347846"/>
            <a:chOff x="0" y="0"/>
            <a:chExt cx="6516383" cy="313046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516370" cy="3130423"/>
            </a:xfrm>
            <a:custGeom>
              <a:avLst/>
              <a:gdLst/>
              <a:ahLst/>
              <a:cxnLst/>
              <a:rect l="l" t="t" r="r" b="b"/>
              <a:pathLst>
                <a:path w="6516370" h="3130423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5994654" y="0"/>
                  </a:lnTo>
                  <a:cubicBezTo>
                    <a:pt x="6282817" y="0"/>
                    <a:pt x="6516370" y="233553"/>
                    <a:pt x="6516370" y="521716"/>
                  </a:cubicBezTo>
                  <a:lnTo>
                    <a:pt x="6516370" y="2608707"/>
                  </a:lnTo>
                  <a:cubicBezTo>
                    <a:pt x="6516370" y="2896870"/>
                    <a:pt x="6282817" y="3130423"/>
                    <a:pt x="5994654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FF5E8"/>
            </a:solidFill>
            <a:ln w="14299" cap="sq">
              <a:solidFill>
                <a:srgbClr val="FFCEA0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509941" y="2676716"/>
            <a:ext cx="425528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51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Current readiness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9941" y="3239510"/>
            <a:ext cx="4255284" cy="494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1">
                <a:solidFill>
                  <a:srgbClr val="EF6925"/>
                </a:solidFill>
                <a:latin typeface="Aptos Bold"/>
                <a:ea typeface="Aptos Bold"/>
                <a:cs typeface="Aptos Bold"/>
                <a:sym typeface="Aptos Bold"/>
              </a:rPr>
              <a:t>Good → Strong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9941" y="3939569"/>
            <a:ext cx="425528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1"/>
              </a:lnSpc>
            </a:pPr>
            <a:r>
              <a:rPr lang="en-US" sz="1475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Strong once overdue attendance evidence and four KSB gaps are closed.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650307" y="2326396"/>
            <a:ext cx="5024552" cy="2347846"/>
            <a:chOff x="0" y="0"/>
            <a:chExt cx="6699402" cy="31304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99377" cy="3130423"/>
            </a:xfrm>
            <a:custGeom>
              <a:avLst/>
              <a:gdLst/>
              <a:ahLst/>
              <a:cxnLst/>
              <a:rect l="l" t="t" r="r" b="b"/>
              <a:pathLst>
                <a:path w="6699377" h="3130423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6177661" y="0"/>
                  </a:lnTo>
                  <a:cubicBezTo>
                    <a:pt x="6465824" y="0"/>
                    <a:pt x="6699377" y="233553"/>
                    <a:pt x="6699377" y="521716"/>
                  </a:cubicBezTo>
                  <a:lnTo>
                    <a:pt x="6699377" y="2608707"/>
                  </a:lnTo>
                  <a:cubicBezTo>
                    <a:pt x="6699377" y="2896870"/>
                    <a:pt x="6465824" y="3130423"/>
                    <a:pt x="6177661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6932000" y="2676716"/>
            <a:ext cx="44611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51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Overdue learning-plan evidence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10355" y="3280648"/>
            <a:ext cx="3985479" cy="28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dirty="0">
                <a:solidFill>
                  <a:srgbClr val="1F2937"/>
                </a:solidFill>
                <a:latin typeface="Aptos"/>
                <a:sym typeface="Aptos"/>
              </a:rPr>
              <a:t>Zero overdue </a:t>
            </a:r>
            <a:endParaRPr dirty="0"/>
          </a:p>
        </p:txBody>
      </p:sp>
      <p:grpSp>
        <p:nvGrpSpPr>
          <p:cNvPr id="20" name="Group 20"/>
          <p:cNvGrpSpPr/>
          <p:nvPr/>
        </p:nvGrpSpPr>
        <p:grpSpPr>
          <a:xfrm>
            <a:off x="12141003" y="2326396"/>
            <a:ext cx="4955915" cy="2347846"/>
            <a:chOff x="0" y="0"/>
            <a:chExt cx="6607886" cy="313046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607810" cy="3130423"/>
            </a:xfrm>
            <a:custGeom>
              <a:avLst/>
              <a:gdLst/>
              <a:ahLst/>
              <a:cxnLst/>
              <a:rect l="l" t="t" r="r" b="b"/>
              <a:pathLst>
                <a:path w="6607810" h="3130423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6086094" y="0"/>
                  </a:lnTo>
                  <a:cubicBezTo>
                    <a:pt x="6374257" y="0"/>
                    <a:pt x="6607810" y="233553"/>
                    <a:pt x="6607810" y="521716"/>
                  </a:cubicBezTo>
                  <a:lnTo>
                    <a:pt x="6607810" y="2608707"/>
                  </a:lnTo>
                  <a:cubicBezTo>
                    <a:pt x="6607810" y="2896870"/>
                    <a:pt x="6374257" y="3130423"/>
                    <a:pt x="6086094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ECFDF5"/>
            </a:solidFill>
            <a:ln w="14299" cap="sq">
              <a:solidFill>
                <a:srgbClr val="A7F3D0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2422686" y="2676716"/>
            <a:ext cx="4392549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51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Action already agreed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01051" y="3280648"/>
            <a:ext cx="3779587" cy="764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endParaRPr dirty="0"/>
          </a:p>
          <a:p>
            <a:pPr algn="l">
              <a:lnSpc>
                <a:spcPts val="1985"/>
              </a:lnSpc>
            </a:pPr>
            <a:r>
              <a:rPr lang="en-US" sz="1654" dirty="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•• Any future missed lecture = 30–45 minute catch-up</a:t>
            </a:r>
          </a:p>
        </p:txBody>
      </p:sp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1235405" y="5559323"/>
          <a:ext cx="15842927" cy="2364048"/>
        </p:xfrm>
        <a:graphic>
          <a:graphicData uri="http://schemas.openxmlformats.org/drawingml/2006/table">
            <a:tbl>
              <a:tblPr/>
              <a:tblGrid>
                <a:gridCol w="3429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70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1012">
                <a:tc>
                  <a:txBody>
                    <a:bodyPr/>
                    <a:lstStyle/>
                    <a:p>
                      <a:pPr algn="ctr">
                        <a:lnSpc>
                          <a:spcPts val="1513"/>
                        </a:lnSpc>
                        <a:defRPr/>
                      </a:pPr>
                      <a:r>
                        <a:rPr lang="en-US" sz="1260" b="1">
                          <a:solidFill>
                            <a:srgbClr val="083149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EPA area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3"/>
                        </a:lnSpc>
                        <a:defRPr/>
                      </a:pPr>
                      <a:r>
                        <a:rPr lang="en-US" sz="1260" b="1">
                          <a:solidFill>
                            <a:srgbClr val="083149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Confidence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13"/>
                        </a:lnSpc>
                        <a:defRPr/>
                      </a:pPr>
                      <a:r>
                        <a:rPr lang="en-US" sz="1260" b="1">
                          <a:solidFill>
                            <a:srgbClr val="083149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Evidence focus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012">
                <a:tc>
                  <a:txBody>
                    <a:bodyPr/>
                    <a:lstStyle/>
                    <a:p>
                      <a:pPr algn="l">
                        <a:lnSpc>
                          <a:spcPts val="1753"/>
                        </a:lnSpc>
                        <a:defRPr/>
                      </a:pPr>
                      <a:r>
                        <a:rPr lang="en-US" sz="146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Multiple Choice Test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753"/>
                        </a:lnSpc>
                        <a:defRPr/>
                      </a:pPr>
                      <a:r>
                        <a:rPr lang="en-US" sz="146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Good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753"/>
                        </a:lnSpc>
                        <a:defRPr/>
                      </a:pPr>
                      <a:r>
                        <a:rPr lang="en-US" sz="146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KSB course complete; keep revising theory from assignments.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012">
                <a:tc>
                  <a:txBody>
                    <a:bodyPr/>
                    <a:lstStyle/>
                    <a:p>
                      <a:pPr algn="l">
                        <a:lnSpc>
                          <a:spcPts val="1753"/>
                        </a:lnSpc>
                        <a:defRPr/>
                      </a:pPr>
                      <a:r>
                        <a:rPr lang="en-US" sz="146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Project Showcase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753"/>
                        </a:lnSpc>
                        <a:defRPr/>
                      </a:pPr>
                      <a:r>
                        <a:rPr lang="en-US" sz="146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Good → Strong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753"/>
                        </a:lnSpc>
                        <a:defRPr/>
                      </a:pPr>
                      <a:r>
                        <a:rPr lang="en-US" sz="1460" dirty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Workplace projects are strong: 30 Under 30, MHRA, OSCAR, AEO/SEO, conference.</a:t>
                      </a:r>
                      <a:endParaRPr lang="en-US" sz="1100" dirty="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012">
                <a:tc>
                  <a:txBody>
                    <a:bodyPr/>
                    <a:lstStyle/>
                    <a:p>
                      <a:pPr algn="l">
                        <a:lnSpc>
                          <a:spcPts val="1753"/>
                        </a:lnSpc>
                        <a:defRPr/>
                      </a:pPr>
                      <a:r>
                        <a:rPr lang="en-US" sz="146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Professional Discussion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753"/>
                        </a:lnSpc>
                        <a:defRPr/>
                      </a:pPr>
                      <a:r>
                        <a:rPr lang="en-US" sz="146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Strong potential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753"/>
                        </a:lnSpc>
                        <a:defRPr/>
                      </a:pPr>
                      <a:r>
                        <a:rPr lang="en-US" sz="1460" dirty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Good range of examples; prepare concise STAR stories for each KSB.</a:t>
                      </a:r>
                      <a:endParaRPr lang="en-US" sz="1100" dirty="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kbc_clean_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233353"/>
            <a:ext cx="2264912" cy="1052436"/>
            <a:chOff x="0" y="0"/>
            <a:chExt cx="3019882" cy="1403248"/>
          </a:xfrm>
        </p:grpSpPr>
        <p:sp>
          <p:nvSpPr>
            <p:cNvPr id="5" name="Freeform 5" descr="kbc_logo_transparent.png"/>
            <p:cNvSpPr/>
            <p:nvPr/>
          </p:nvSpPr>
          <p:spPr>
            <a:xfrm>
              <a:off x="0" y="0"/>
              <a:ext cx="3019933" cy="1403223"/>
            </a:xfrm>
            <a:custGeom>
              <a:avLst/>
              <a:gdLst/>
              <a:ahLst/>
              <a:cxnLst/>
              <a:rect l="l" t="t" r="r" b="b"/>
              <a:pathLst>
                <a:path w="3019933" h="1403223">
                  <a:moveTo>
                    <a:pt x="0" y="0"/>
                  </a:moveTo>
                  <a:lnTo>
                    <a:pt x="3019933" y="0"/>
                  </a:lnTo>
                  <a:lnTo>
                    <a:pt x="3019933" y="1403223"/>
                  </a:lnTo>
                  <a:lnTo>
                    <a:pt x="0" y="140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42568" y="384353"/>
            <a:ext cx="2127647" cy="359035"/>
            <a:chOff x="0" y="0"/>
            <a:chExt cx="2836862" cy="478714"/>
          </a:xfrm>
        </p:grpSpPr>
        <p:sp>
          <p:nvSpPr>
            <p:cNvPr id="7" name="Freeform 7" descr="spinnaker_logo_transparent.png"/>
            <p:cNvSpPr/>
            <p:nvPr/>
          </p:nvSpPr>
          <p:spPr>
            <a:xfrm>
              <a:off x="0" y="0"/>
              <a:ext cx="2836799" cy="478663"/>
            </a:xfrm>
            <a:custGeom>
              <a:avLst/>
              <a:gdLst/>
              <a:ahLst/>
              <a:cxnLst/>
              <a:rect l="l" t="t" r="r" b="b"/>
              <a:pathLst>
                <a:path w="2836799" h="478663">
                  <a:moveTo>
                    <a:pt x="0" y="0"/>
                  </a:moveTo>
                  <a:lnTo>
                    <a:pt x="2836799" y="0"/>
                  </a:lnTo>
                  <a:lnTo>
                    <a:pt x="2836799" y="478663"/>
                  </a:lnTo>
                  <a:lnTo>
                    <a:pt x="0" y="47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46411" y="9855003"/>
            <a:ext cx="16563727" cy="202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>
                <a:solidFill>
                  <a:srgbClr val="626C7D"/>
                </a:solidFill>
                <a:latin typeface="Calibri (MS)"/>
                <a:ea typeface="Calibri (MS)"/>
                <a:cs typeface="Calibri (MS)"/>
                <a:sym typeface="Calibri (MS)"/>
              </a:rPr>
              <a:t>Marketing Executive Level 4 Apprenticeship | Progress Review | Bethanie-Taylor Grenfell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83862" y="741578"/>
            <a:ext cx="11965267" cy="47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Assignments Submitted: April, May and June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11322" y="1390936"/>
            <a:ext cx="11828002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5"/>
              </a:lnSpc>
            </a:pPr>
            <a:r>
              <a:rPr lang="en-US" sz="1529">
                <a:solidFill>
                  <a:srgbClr val="60696C"/>
                </a:solidFill>
                <a:latin typeface="Aptos"/>
                <a:ea typeface="Aptos"/>
                <a:cs typeface="Aptos"/>
                <a:sym typeface="Aptos"/>
              </a:rPr>
              <a:t>The submitted assignments are strongly workplace-based and link well to Spinnaker’s maritime recruitment and HR context.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2356" y="2395023"/>
            <a:ext cx="5161817" cy="5985424"/>
            <a:chOff x="0" y="0"/>
            <a:chExt cx="6882422" cy="79805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82384" cy="7980553"/>
            </a:xfrm>
            <a:custGeom>
              <a:avLst/>
              <a:gdLst/>
              <a:ahLst/>
              <a:cxnLst/>
              <a:rect l="l" t="t" r="r" b="b"/>
              <a:pathLst>
                <a:path w="6882384" h="7980553">
                  <a:moveTo>
                    <a:pt x="0" y="1147064"/>
                  </a:moveTo>
                  <a:cubicBezTo>
                    <a:pt x="0" y="513588"/>
                    <a:pt x="513588" y="0"/>
                    <a:pt x="1147064" y="0"/>
                  </a:cubicBezTo>
                  <a:lnTo>
                    <a:pt x="5735320" y="0"/>
                  </a:lnTo>
                  <a:cubicBezTo>
                    <a:pt x="6368796" y="0"/>
                    <a:pt x="6882384" y="513588"/>
                    <a:pt x="6882384" y="1147064"/>
                  </a:cubicBezTo>
                  <a:lnTo>
                    <a:pt x="6882384" y="6833489"/>
                  </a:lnTo>
                  <a:cubicBezTo>
                    <a:pt x="6882384" y="7466965"/>
                    <a:pt x="6368796" y="7980553"/>
                    <a:pt x="5735320" y="7980553"/>
                  </a:cubicBezTo>
                  <a:lnTo>
                    <a:pt x="1147064" y="7980553"/>
                  </a:lnTo>
                  <a:cubicBezTo>
                    <a:pt x="513588" y="7980553"/>
                    <a:pt x="0" y="7466965"/>
                    <a:pt x="0" y="683348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276588" y="2676716"/>
            <a:ext cx="2264912" cy="439255"/>
            <a:chOff x="0" y="0"/>
            <a:chExt cx="3019882" cy="58567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019933" cy="585724"/>
            </a:xfrm>
            <a:custGeom>
              <a:avLst/>
              <a:gdLst/>
              <a:ahLst/>
              <a:cxnLst/>
              <a:rect l="l" t="t" r="r" b="b"/>
              <a:pathLst>
                <a:path w="3019933" h="585724">
                  <a:moveTo>
                    <a:pt x="0" y="97663"/>
                  </a:moveTo>
                  <a:cubicBezTo>
                    <a:pt x="0" y="43688"/>
                    <a:pt x="43688" y="0"/>
                    <a:pt x="97663" y="0"/>
                  </a:cubicBezTo>
                  <a:lnTo>
                    <a:pt x="2922270" y="0"/>
                  </a:lnTo>
                  <a:cubicBezTo>
                    <a:pt x="2976118" y="0"/>
                    <a:pt x="3019933" y="43688"/>
                    <a:pt x="3019933" y="97663"/>
                  </a:cubicBezTo>
                  <a:lnTo>
                    <a:pt x="3019933" y="488061"/>
                  </a:lnTo>
                  <a:cubicBezTo>
                    <a:pt x="3019933" y="541909"/>
                    <a:pt x="2976245" y="585724"/>
                    <a:pt x="2922270" y="585724"/>
                  </a:cubicBezTo>
                  <a:lnTo>
                    <a:pt x="97663" y="585724"/>
                  </a:lnTo>
                  <a:cubicBezTo>
                    <a:pt x="43688" y="585724"/>
                    <a:pt x="0" y="541909"/>
                    <a:pt x="0" y="488061"/>
                  </a:cubicBezTo>
                  <a:close/>
                </a:path>
              </a:pathLst>
            </a:custGeom>
            <a:solidFill>
              <a:srgbClr val="0096A5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76588" y="2690441"/>
            <a:ext cx="2264912" cy="411802"/>
            <a:chOff x="0" y="0"/>
            <a:chExt cx="3019882" cy="54906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19879" cy="549066"/>
            </a:xfrm>
            <a:custGeom>
              <a:avLst/>
              <a:gdLst/>
              <a:ahLst/>
              <a:cxnLst/>
              <a:rect l="l" t="t" r="r" b="b"/>
              <a:pathLst>
                <a:path w="3019879" h="549066">
                  <a:moveTo>
                    <a:pt x="0" y="0"/>
                  </a:moveTo>
                  <a:lnTo>
                    <a:pt x="3019879" y="0"/>
                  </a:lnTo>
                  <a:lnTo>
                    <a:pt x="3019879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7167" b="-57168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3019882" cy="5490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5"/>
                </a:lnSpc>
              </a:pPr>
              <a:r>
                <a:rPr lang="en-US" sz="157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April Assignment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76588" y="3229985"/>
            <a:ext cx="4598451" cy="72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Secondary Data Analysis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41218" y="4241511"/>
            <a:ext cx="4218842" cy="276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3"/>
              </a:lnSpc>
            </a:pPr>
            <a:endParaRPr/>
          </a:p>
          <a:p>
            <a:pPr algn="l">
              <a:lnSpc>
                <a:spcPts val="2203"/>
              </a:lnSpc>
            </a:pPr>
            <a:r>
              <a:rPr lang="en-US" sz="183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Used internal email, website and LinkedIn data to evaluate Spinnaker’s performance.</a:t>
            </a:r>
          </a:p>
          <a:p>
            <a:pPr algn="l">
              <a:lnSpc>
                <a:spcPts val="2203"/>
              </a:lnSpc>
            </a:pPr>
            <a:r>
              <a:rPr lang="en-US" sz="183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Strong metrics: 29% email open rate, 136,829 LinkedIn impressions and +834 followers.</a:t>
            </a:r>
          </a:p>
          <a:p>
            <a:pPr algn="l">
              <a:lnSpc>
                <a:spcPts val="2203"/>
              </a:lnSpc>
            </a:pPr>
            <a:r>
              <a:rPr lang="en-US" sz="183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Recommendations: people-led content, video, conversion tracking, LinkedIn dependency reduction.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31490" y="7481068"/>
            <a:ext cx="439254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5"/>
              </a:lnSpc>
            </a:pPr>
            <a:r>
              <a:rPr lang="en-US" sz="1529" b="1">
                <a:solidFill>
                  <a:srgbClr val="0096A5"/>
                </a:solidFill>
                <a:latin typeface="Aptos Bold"/>
                <a:ea typeface="Aptos Bold"/>
                <a:cs typeface="Aptos Bold"/>
                <a:sym typeface="Aptos Bold"/>
              </a:rPr>
              <a:t>Evidence value: strong, real workplace application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718945" y="2395023"/>
            <a:ext cx="5161817" cy="5985424"/>
            <a:chOff x="0" y="0"/>
            <a:chExt cx="6882422" cy="798056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882384" cy="7980553"/>
            </a:xfrm>
            <a:custGeom>
              <a:avLst/>
              <a:gdLst/>
              <a:ahLst/>
              <a:cxnLst/>
              <a:rect l="l" t="t" r="r" b="b"/>
              <a:pathLst>
                <a:path w="6882384" h="7980553">
                  <a:moveTo>
                    <a:pt x="0" y="1147064"/>
                  </a:moveTo>
                  <a:cubicBezTo>
                    <a:pt x="0" y="513588"/>
                    <a:pt x="513588" y="0"/>
                    <a:pt x="1147064" y="0"/>
                  </a:cubicBezTo>
                  <a:lnTo>
                    <a:pt x="5735320" y="0"/>
                  </a:lnTo>
                  <a:cubicBezTo>
                    <a:pt x="6368796" y="0"/>
                    <a:pt x="6882384" y="513588"/>
                    <a:pt x="6882384" y="1147064"/>
                  </a:cubicBezTo>
                  <a:lnTo>
                    <a:pt x="6882384" y="6833489"/>
                  </a:lnTo>
                  <a:cubicBezTo>
                    <a:pt x="6882384" y="7466965"/>
                    <a:pt x="6368796" y="7980553"/>
                    <a:pt x="5735320" y="7980553"/>
                  </a:cubicBezTo>
                  <a:lnTo>
                    <a:pt x="1147064" y="7980553"/>
                  </a:lnTo>
                  <a:cubicBezTo>
                    <a:pt x="513588" y="7980553"/>
                    <a:pt x="0" y="7466965"/>
                    <a:pt x="0" y="683348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973176" y="2676716"/>
            <a:ext cx="2264912" cy="439255"/>
            <a:chOff x="0" y="0"/>
            <a:chExt cx="3019882" cy="58567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019933" cy="585724"/>
            </a:xfrm>
            <a:custGeom>
              <a:avLst/>
              <a:gdLst/>
              <a:ahLst/>
              <a:cxnLst/>
              <a:rect l="l" t="t" r="r" b="b"/>
              <a:pathLst>
                <a:path w="3019933" h="585724">
                  <a:moveTo>
                    <a:pt x="0" y="97663"/>
                  </a:moveTo>
                  <a:cubicBezTo>
                    <a:pt x="0" y="43688"/>
                    <a:pt x="43688" y="0"/>
                    <a:pt x="97663" y="0"/>
                  </a:cubicBezTo>
                  <a:lnTo>
                    <a:pt x="2922270" y="0"/>
                  </a:lnTo>
                  <a:cubicBezTo>
                    <a:pt x="2976118" y="0"/>
                    <a:pt x="3019933" y="43688"/>
                    <a:pt x="3019933" y="97663"/>
                  </a:cubicBezTo>
                  <a:lnTo>
                    <a:pt x="3019933" y="488061"/>
                  </a:lnTo>
                  <a:cubicBezTo>
                    <a:pt x="3019933" y="541909"/>
                    <a:pt x="2976245" y="585724"/>
                    <a:pt x="2922270" y="585724"/>
                  </a:cubicBezTo>
                  <a:lnTo>
                    <a:pt x="97663" y="585724"/>
                  </a:lnTo>
                  <a:cubicBezTo>
                    <a:pt x="43688" y="585724"/>
                    <a:pt x="0" y="541909"/>
                    <a:pt x="0" y="488061"/>
                  </a:cubicBezTo>
                  <a:close/>
                </a:path>
              </a:pathLst>
            </a:custGeom>
            <a:solidFill>
              <a:srgbClr val="EF6925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6973176" y="2690441"/>
            <a:ext cx="2264912" cy="411802"/>
            <a:chOff x="0" y="0"/>
            <a:chExt cx="3019882" cy="54906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019879" cy="549066"/>
            </a:xfrm>
            <a:custGeom>
              <a:avLst/>
              <a:gdLst/>
              <a:ahLst/>
              <a:cxnLst/>
              <a:rect l="l" t="t" r="r" b="b"/>
              <a:pathLst>
                <a:path w="3019879" h="549066">
                  <a:moveTo>
                    <a:pt x="0" y="0"/>
                  </a:moveTo>
                  <a:lnTo>
                    <a:pt x="3019879" y="0"/>
                  </a:lnTo>
                  <a:lnTo>
                    <a:pt x="3019879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7167" b="-57168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3019882" cy="5490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5"/>
                </a:lnSpc>
              </a:pPr>
              <a:r>
                <a:rPr lang="en-US" sz="157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May Assignment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973176" y="3229985"/>
            <a:ext cx="4598451" cy="72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Promotion Report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37806" y="4241511"/>
            <a:ext cx="4218842" cy="276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3"/>
              </a:lnSpc>
            </a:pPr>
            <a:endParaRPr/>
          </a:p>
          <a:p>
            <a:pPr algn="l">
              <a:lnSpc>
                <a:spcPts val="2203"/>
              </a:lnSpc>
            </a:pPr>
            <a:r>
              <a:rPr lang="en-US" sz="183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Audited the June Marketing Content Strategy across MHRA and OSCAR Dragon Boat Race activity.</a:t>
            </a:r>
          </a:p>
          <a:p>
            <a:pPr algn="l">
              <a:lnSpc>
                <a:spcPts val="2203"/>
              </a:lnSpc>
            </a:pPr>
            <a:r>
              <a:rPr lang="en-US" sz="183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Identified CTA inconsistency, fragmented tracking and LinkedIn over-reliance.</a:t>
            </a:r>
          </a:p>
          <a:p>
            <a:pPr algn="l">
              <a:lnSpc>
                <a:spcPts val="2203"/>
              </a:lnSpc>
            </a:pPr>
            <a:r>
              <a:rPr lang="en-US" sz="183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Recommendations: UTM/GA4 tracking, one MHRA CTA and stronger multi-channel integration.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28078" y="7481068"/>
            <a:ext cx="439254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5"/>
              </a:lnSpc>
            </a:pPr>
            <a:r>
              <a:rPr lang="en-US" sz="1529" b="1">
                <a:solidFill>
                  <a:srgbClr val="EF6925"/>
                </a:solidFill>
                <a:latin typeface="Aptos Bold"/>
                <a:ea typeface="Aptos Bold"/>
                <a:cs typeface="Aptos Bold"/>
                <a:sym typeface="Aptos Bold"/>
              </a:rPr>
              <a:t>Evidence value: strong, real workplace application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415533" y="2395023"/>
            <a:ext cx="5161817" cy="5985424"/>
            <a:chOff x="0" y="0"/>
            <a:chExt cx="6882422" cy="798056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882384" cy="7980553"/>
            </a:xfrm>
            <a:custGeom>
              <a:avLst/>
              <a:gdLst/>
              <a:ahLst/>
              <a:cxnLst/>
              <a:rect l="l" t="t" r="r" b="b"/>
              <a:pathLst>
                <a:path w="6882384" h="7980553">
                  <a:moveTo>
                    <a:pt x="0" y="1147064"/>
                  </a:moveTo>
                  <a:cubicBezTo>
                    <a:pt x="0" y="513588"/>
                    <a:pt x="513588" y="0"/>
                    <a:pt x="1147064" y="0"/>
                  </a:cubicBezTo>
                  <a:lnTo>
                    <a:pt x="5735320" y="0"/>
                  </a:lnTo>
                  <a:cubicBezTo>
                    <a:pt x="6368796" y="0"/>
                    <a:pt x="6882384" y="513588"/>
                    <a:pt x="6882384" y="1147064"/>
                  </a:cubicBezTo>
                  <a:lnTo>
                    <a:pt x="6882384" y="6833489"/>
                  </a:lnTo>
                  <a:cubicBezTo>
                    <a:pt x="6882384" y="7466965"/>
                    <a:pt x="6368796" y="7980553"/>
                    <a:pt x="5735320" y="7980553"/>
                  </a:cubicBezTo>
                  <a:lnTo>
                    <a:pt x="1147064" y="7980553"/>
                  </a:lnTo>
                  <a:cubicBezTo>
                    <a:pt x="513588" y="7980553"/>
                    <a:pt x="0" y="7466965"/>
                    <a:pt x="0" y="683348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2669764" y="2676716"/>
            <a:ext cx="2264912" cy="439255"/>
            <a:chOff x="0" y="0"/>
            <a:chExt cx="3019882" cy="5856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019933" cy="585724"/>
            </a:xfrm>
            <a:custGeom>
              <a:avLst/>
              <a:gdLst/>
              <a:ahLst/>
              <a:cxnLst/>
              <a:rect l="l" t="t" r="r" b="b"/>
              <a:pathLst>
                <a:path w="3019933" h="585724">
                  <a:moveTo>
                    <a:pt x="0" y="97663"/>
                  </a:moveTo>
                  <a:cubicBezTo>
                    <a:pt x="0" y="43688"/>
                    <a:pt x="43688" y="0"/>
                    <a:pt x="97663" y="0"/>
                  </a:cubicBezTo>
                  <a:lnTo>
                    <a:pt x="2922270" y="0"/>
                  </a:lnTo>
                  <a:cubicBezTo>
                    <a:pt x="2976118" y="0"/>
                    <a:pt x="3019933" y="43688"/>
                    <a:pt x="3019933" y="97663"/>
                  </a:cubicBezTo>
                  <a:lnTo>
                    <a:pt x="3019933" y="488061"/>
                  </a:lnTo>
                  <a:cubicBezTo>
                    <a:pt x="3019933" y="541909"/>
                    <a:pt x="2976245" y="585724"/>
                    <a:pt x="2922270" y="585724"/>
                  </a:cubicBezTo>
                  <a:lnTo>
                    <a:pt x="97663" y="585724"/>
                  </a:lnTo>
                  <a:cubicBezTo>
                    <a:pt x="43688" y="585724"/>
                    <a:pt x="0" y="541909"/>
                    <a:pt x="0" y="488061"/>
                  </a:cubicBezTo>
                  <a:close/>
                </a:path>
              </a:pathLst>
            </a:custGeom>
            <a:solidFill>
              <a:srgbClr val="5D49D8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2669764" y="2690441"/>
            <a:ext cx="2264912" cy="411802"/>
            <a:chOff x="0" y="0"/>
            <a:chExt cx="3019882" cy="54906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019879" cy="549066"/>
            </a:xfrm>
            <a:custGeom>
              <a:avLst/>
              <a:gdLst/>
              <a:ahLst/>
              <a:cxnLst/>
              <a:rect l="l" t="t" r="r" b="b"/>
              <a:pathLst>
                <a:path w="3019879" h="549066">
                  <a:moveTo>
                    <a:pt x="0" y="0"/>
                  </a:moveTo>
                  <a:lnTo>
                    <a:pt x="3019879" y="0"/>
                  </a:lnTo>
                  <a:lnTo>
                    <a:pt x="3019879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7167" b="-57168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3019882" cy="5490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65"/>
                </a:lnSpc>
              </a:pPr>
              <a:r>
                <a:rPr lang="en-US" sz="147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June Assignment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669764" y="3229985"/>
            <a:ext cx="4598451" cy="72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Social Media Strategy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834404" y="4241511"/>
            <a:ext cx="4218842" cy="248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3"/>
              </a:lnSpc>
            </a:pPr>
            <a:endParaRPr/>
          </a:p>
          <a:p>
            <a:pPr algn="l">
              <a:lnSpc>
                <a:spcPts val="2203"/>
              </a:lnSpc>
            </a:pPr>
            <a:r>
              <a:rPr lang="en-US" sz="183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Mapped social media’s role within Spinnaker’s wider marketing strategy.</a:t>
            </a:r>
          </a:p>
          <a:p>
            <a:pPr algn="l">
              <a:lnSpc>
                <a:spcPts val="2203"/>
              </a:lnSpc>
            </a:pPr>
            <a:r>
              <a:rPr lang="en-US" sz="183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LinkedIn remains the primary B2B hub: 80,343 impressions, +992 followers, strong job content clicks.</a:t>
            </a:r>
          </a:p>
          <a:p>
            <a:pPr algn="l">
              <a:lnSpc>
                <a:spcPts val="2203"/>
              </a:lnSpc>
            </a:pPr>
            <a:r>
              <a:rPr lang="en-US" sz="183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Recommendations: video-led content, consultant personal branding and channel-role review.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724676" y="7481068"/>
            <a:ext cx="439254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5"/>
              </a:lnSpc>
            </a:pPr>
            <a:r>
              <a:rPr lang="en-US" sz="1529" b="1">
                <a:solidFill>
                  <a:srgbClr val="5D49D8"/>
                </a:solidFill>
                <a:latin typeface="Aptos Bold"/>
                <a:ea typeface="Aptos Bold"/>
                <a:cs typeface="Aptos Bold"/>
                <a:sym typeface="Aptos Bold"/>
              </a:rPr>
              <a:t>Evidence value: strong, real workplace application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3843480" y="8812559"/>
            <a:ext cx="10638215" cy="439255"/>
            <a:chOff x="0" y="0"/>
            <a:chExt cx="14184287" cy="58567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4184376" cy="585724"/>
            </a:xfrm>
            <a:custGeom>
              <a:avLst/>
              <a:gdLst/>
              <a:ahLst/>
              <a:cxnLst/>
              <a:rect l="l" t="t" r="r" b="b"/>
              <a:pathLst>
                <a:path w="14184376" h="585724">
                  <a:moveTo>
                    <a:pt x="0" y="97663"/>
                  </a:moveTo>
                  <a:cubicBezTo>
                    <a:pt x="0" y="43688"/>
                    <a:pt x="43688" y="0"/>
                    <a:pt x="97663" y="0"/>
                  </a:cubicBezTo>
                  <a:lnTo>
                    <a:pt x="14086714" y="0"/>
                  </a:lnTo>
                  <a:cubicBezTo>
                    <a:pt x="14140562" y="0"/>
                    <a:pt x="14184376" y="43688"/>
                    <a:pt x="14184376" y="97663"/>
                  </a:cubicBezTo>
                  <a:lnTo>
                    <a:pt x="14184376" y="488061"/>
                  </a:lnTo>
                  <a:cubicBezTo>
                    <a:pt x="14184376" y="541909"/>
                    <a:pt x="14140689" y="585724"/>
                    <a:pt x="14086714" y="585724"/>
                  </a:cubicBezTo>
                  <a:lnTo>
                    <a:pt x="97663" y="585724"/>
                  </a:lnTo>
                  <a:cubicBezTo>
                    <a:pt x="43688" y="585724"/>
                    <a:pt x="0" y="541909"/>
                    <a:pt x="0" y="488061"/>
                  </a:cubicBezTo>
                  <a:close/>
                </a:path>
              </a:pathLst>
            </a:custGeom>
            <a:solidFill>
              <a:srgbClr val="083149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3843480" y="8826284"/>
            <a:ext cx="10638215" cy="411802"/>
            <a:chOff x="0" y="0"/>
            <a:chExt cx="14184287" cy="54906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184281" cy="549066"/>
            </a:xfrm>
            <a:custGeom>
              <a:avLst/>
              <a:gdLst/>
              <a:ahLst/>
              <a:cxnLst/>
              <a:rect l="l" t="t" r="r" b="b"/>
              <a:pathLst>
                <a:path w="14184281" h="549066">
                  <a:moveTo>
                    <a:pt x="0" y="0"/>
                  </a:moveTo>
                  <a:lnTo>
                    <a:pt x="14184281" y="0"/>
                  </a:lnTo>
                  <a:lnTo>
                    <a:pt x="14184281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53365" b="-453366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14184287" cy="5490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5"/>
                </a:lnSpc>
              </a:pPr>
              <a:r>
                <a:rPr lang="en-US" sz="1429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Next step: ensure every assignment is linked to one or more artefacts and a short reflective note in APTEM.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kbc_clean_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233353"/>
            <a:ext cx="2264912" cy="1052436"/>
            <a:chOff x="0" y="0"/>
            <a:chExt cx="3019882" cy="1403248"/>
          </a:xfrm>
        </p:grpSpPr>
        <p:sp>
          <p:nvSpPr>
            <p:cNvPr id="5" name="Freeform 5" descr="kbc_logo_transparent.png"/>
            <p:cNvSpPr/>
            <p:nvPr/>
          </p:nvSpPr>
          <p:spPr>
            <a:xfrm>
              <a:off x="0" y="0"/>
              <a:ext cx="3019933" cy="1403223"/>
            </a:xfrm>
            <a:custGeom>
              <a:avLst/>
              <a:gdLst/>
              <a:ahLst/>
              <a:cxnLst/>
              <a:rect l="l" t="t" r="r" b="b"/>
              <a:pathLst>
                <a:path w="3019933" h="1403223">
                  <a:moveTo>
                    <a:pt x="0" y="0"/>
                  </a:moveTo>
                  <a:lnTo>
                    <a:pt x="3019933" y="0"/>
                  </a:lnTo>
                  <a:lnTo>
                    <a:pt x="3019933" y="1403223"/>
                  </a:lnTo>
                  <a:lnTo>
                    <a:pt x="0" y="140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42568" y="384353"/>
            <a:ext cx="2127647" cy="359035"/>
            <a:chOff x="0" y="0"/>
            <a:chExt cx="2836862" cy="478714"/>
          </a:xfrm>
        </p:grpSpPr>
        <p:sp>
          <p:nvSpPr>
            <p:cNvPr id="7" name="Freeform 7" descr="spinnaker_logo_transparent.png"/>
            <p:cNvSpPr/>
            <p:nvPr/>
          </p:nvSpPr>
          <p:spPr>
            <a:xfrm>
              <a:off x="0" y="0"/>
              <a:ext cx="2836799" cy="478663"/>
            </a:xfrm>
            <a:custGeom>
              <a:avLst/>
              <a:gdLst/>
              <a:ahLst/>
              <a:cxnLst/>
              <a:rect l="l" t="t" r="r" b="b"/>
              <a:pathLst>
                <a:path w="2836799" h="478663">
                  <a:moveTo>
                    <a:pt x="0" y="0"/>
                  </a:moveTo>
                  <a:lnTo>
                    <a:pt x="2836799" y="0"/>
                  </a:lnTo>
                  <a:lnTo>
                    <a:pt x="2836799" y="478663"/>
                  </a:lnTo>
                  <a:lnTo>
                    <a:pt x="0" y="47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46411" y="9855003"/>
            <a:ext cx="16563727" cy="202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>
                <a:solidFill>
                  <a:srgbClr val="626C7D"/>
                </a:solidFill>
                <a:latin typeface="Calibri (MS)"/>
                <a:ea typeface="Calibri (MS)"/>
                <a:cs typeface="Calibri (MS)"/>
                <a:sym typeface="Calibri (MS)"/>
              </a:rPr>
              <a:t>Marketing Executive Level 4 Apprenticeship | Progress Review | Bethanie-Taylor Grenfell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83862" y="741578"/>
            <a:ext cx="11965267" cy="47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Assignment Portfolio Review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11322" y="1390936"/>
            <a:ext cx="11828002" cy="34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5"/>
              </a:lnSpc>
            </a:pPr>
            <a:r>
              <a:rPr lang="en-US" sz="1529">
                <a:solidFill>
                  <a:srgbClr val="60696C"/>
                </a:solidFill>
                <a:latin typeface="Aptos"/>
                <a:ea typeface="Aptos"/>
                <a:cs typeface="Aptos"/>
                <a:sym typeface="Aptos"/>
              </a:rPr>
              <a:t>Evidence is relevant, current and reflective; keep tightening the golden thread from activity → data → insight → business impact.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90984" y="2353847"/>
            <a:ext cx="3445983" cy="2004670"/>
            <a:chOff x="0" y="0"/>
            <a:chExt cx="4594644" cy="26728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94606" cy="2672969"/>
            </a:xfrm>
            <a:custGeom>
              <a:avLst/>
              <a:gdLst/>
              <a:ahLst/>
              <a:cxnLst/>
              <a:rect l="l" t="t" r="r" b="b"/>
              <a:pathLst>
                <a:path w="4594606" h="2672969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4149090" y="0"/>
                  </a:lnTo>
                  <a:cubicBezTo>
                    <a:pt x="4395089" y="0"/>
                    <a:pt x="4594606" y="199517"/>
                    <a:pt x="4594606" y="445516"/>
                  </a:cubicBezTo>
                  <a:lnTo>
                    <a:pt x="4594606" y="2227453"/>
                  </a:lnTo>
                  <a:cubicBezTo>
                    <a:pt x="4594606" y="2473452"/>
                    <a:pt x="4395089" y="2672969"/>
                    <a:pt x="4149090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166774" y="2429627"/>
            <a:ext cx="3294412" cy="192176"/>
            <a:chOff x="0" y="0"/>
            <a:chExt cx="4392549" cy="25623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392549" cy="256160"/>
            </a:xfrm>
            <a:custGeom>
              <a:avLst/>
              <a:gdLst/>
              <a:ahLst/>
              <a:cxnLst/>
              <a:rect l="l" t="t" r="r" b="b"/>
              <a:pathLst>
                <a:path w="4392549" h="256160">
                  <a:moveTo>
                    <a:pt x="0" y="42672"/>
                  </a:moveTo>
                  <a:cubicBezTo>
                    <a:pt x="0" y="19177"/>
                    <a:pt x="19177" y="0"/>
                    <a:pt x="42672" y="0"/>
                  </a:cubicBezTo>
                  <a:lnTo>
                    <a:pt x="4349877" y="0"/>
                  </a:lnTo>
                  <a:cubicBezTo>
                    <a:pt x="4373499" y="0"/>
                    <a:pt x="4392549" y="19177"/>
                    <a:pt x="4392549" y="42672"/>
                  </a:cubicBezTo>
                  <a:lnTo>
                    <a:pt x="4392549" y="213487"/>
                  </a:lnTo>
                  <a:cubicBezTo>
                    <a:pt x="4392549" y="237109"/>
                    <a:pt x="4373372" y="256159"/>
                    <a:pt x="4349877" y="256159"/>
                  </a:cubicBezTo>
                  <a:lnTo>
                    <a:pt x="42672" y="256159"/>
                  </a:lnTo>
                  <a:cubicBezTo>
                    <a:pt x="19177" y="256286"/>
                    <a:pt x="0" y="237109"/>
                    <a:pt x="0" y="213487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262863" y="2754868"/>
            <a:ext cx="3102235" cy="56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16A34A"/>
                </a:solidFill>
                <a:latin typeface="Aptos Bold"/>
                <a:ea typeface="Aptos Bold"/>
                <a:cs typeface="Aptos Bold"/>
                <a:sym typeface="Aptos Bold"/>
              </a:rPr>
              <a:t>Strong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5402" y="3459137"/>
            <a:ext cx="3157147" cy="5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April: data analysis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6588" y="3980755"/>
            <a:ext cx="3074784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7"/>
              </a:lnSpc>
            </a:pPr>
            <a:r>
              <a:rPr lang="en-US" sz="1480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Good for S5 and K3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003102" y="2353847"/>
            <a:ext cx="3445983" cy="2004670"/>
            <a:chOff x="0" y="0"/>
            <a:chExt cx="4594644" cy="267289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594606" cy="2672969"/>
            </a:xfrm>
            <a:custGeom>
              <a:avLst/>
              <a:gdLst/>
              <a:ahLst/>
              <a:cxnLst/>
              <a:rect l="l" t="t" r="r" b="b"/>
              <a:pathLst>
                <a:path w="4594606" h="2672969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4149090" y="0"/>
                  </a:lnTo>
                  <a:cubicBezTo>
                    <a:pt x="4395089" y="0"/>
                    <a:pt x="4594606" y="199517"/>
                    <a:pt x="4594606" y="445516"/>
                  </a:cubicBezTo>
                  <a:lnTo>
                    <a:pt x="4594606" y="2227453"/>
                  </a:lnTo>
                  <a:cubicBezTo>
                    <a:pt x="4594606" y="2473452"/>
                    <a:pt x="4395089" y="2672969"/>
                    <a:pt x="4149090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078882" y="2429627"/>
            <a:ext cx="3294412" cy="192176"/>
            <a:chOff x="0" y="0"/>
            <a:chExt cx="4392549" cy="25623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392549" cy="256160"/>
            </a:xfrm>
            <a:custGeom>
              <a:avLst/>
              <a:gdLst/>
              <a:ahLst/>
              <a:cxnLst/>
              <a:rect l="l" t="t" r="r" b="b"/>
              <a:pathLst>
                <a:path w="4392549" h="256160">
                  <a:moveTo>
                    <a:pt x="0" y="42672"/>
                  </a:moveTo>
                  <a:cubicBezTo>
                    <a:pt x="0" y="19177"/>
                    <a:pt x="19177" y="0"/>
                    <a:pt x="42672" y="0"/>
                  </a:cubicBezTo>
                  <a:lnTo>
                    <a:pt x="4349877" y="0"/>
                  </a:lnTo>
                  <a:cubicBezTo>
                    <a:pt x="4373499" y="0"/>
                    <a:pt x="4392549" y="19177"/>
                    <a:pt x="4392549" y="42672"/>
                  </a:cubicBezTo>
                  <a:lnTo>
                    <a:pt x="4392549" y="213487"/>
                  </a:lnTo>
                  <a:cubicBezTo>
                    <a:pt x="4392549" y="237109"/>
                    <a:pt x="4373372" y="256159"/>
                    <a:pt x="4349877" y="256159"/>
                  </a:cubicBezTo>
                  <a:lnTo>
                    <a:pt x="42672" y="256159"/>
                  </a:lnTo>
                  <a:cubicBezTo>
                    <a:pt x="19177" y="256286"/>
                    <a:pt x="0" y="237109"/>
                    <a:pt x="0" y="213487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5174971" y="2754868"/>
            <a:ext cx="3102235" cy="56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16A34A"/>
                </a:solidFill>
                <a:latin typeface="Aptos Bold"/>
                <a:ea typeface="Aptos Bold"/>
                <a:cs typeface="Aptos Bold"/>
                <a:sym typeface="Aptos Bold"/>
              </a:rPr>
              <a:t>Strong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47520" y="3459137"/>
            <a:ext cx="3157147" cy="5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May: promotion audit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88706" y="3971230"/>
            <a:ext cx="3074784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7"/>
              </a:lnSpc>
            </a:pPr>
            <a:r>
              <a:rPr lang="en-US" sz="1380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Good for S1/S5/K4.3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915219" y="2353847"/>
            <a:ext cx="3445983" cy="2004670"/>
            <a:chOff x="0" y="0"/>
            <a:chExt cx="4594644" cy="267289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594606" cy="2672969"/>
            </a:xfrm>
            <a:custGeom>
              <a:avLst/>
              <a:gdLst/>
              <a:ahLst/>
              <a:cxnLst/>
              <a:rect l="l" t="t" r="r" b="b"/>
              <a:pathLst>
                <a:path w="4594606" h="2672969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4149090" y="0"/>
                  </a:lnTo>
                  <a:cubicBezTo>
                    <a:pt x="4395089" y="0"/>
                    <a:pt x="4594606" y="199517"/>
                    <a:pt x="4594606" y="445516"/>
                  </a:cubicBezTo>
                  <a:lnTo>
                    <a:pt x="4594606" y="2227453"/>
                  </a:lnTo>
                  <a:cubicBezTo>
                    <a:pt x="4594606" y="2473452"/>
                    <a:pt x="4395089" y="2672969"/>
                    <a:pt x="4149090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8991000" y="2429627"/>
            <a:ext cx="3294412" cy="192176"/>
            <a:chOff x="0" y="0"/>
            <a:chExt cx="4392549" cy="25623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392549" cy="256160"/>
            </a:xfrm>
            <a:custGeom>
              <a:avLst/>
              <a:gdLst/>
              <a:ahLst/>
              <a:cxnLst/>
              <a:rect l="l" t="t" r="r" b="b"/>
              <a:pathLst>
                <a:path w="4392549" h="256160">
                  <a:moveTo>
                    <a:pt x="0" y="42672"/>
                  </a:moveTo>
                  <a:cubicBezTo>
                    <a:pt x="0" y="19177"/>
                    <a:pt x="19177" y="0"/>
                    <a:pt x="42672" y="0"/>
                  </a:cubicBezTo>
                  <a:lnTo>
                    <a:pt x="4349877" y="0"/>
                  </a:lnTo>
                  <a:cubicBezTo>
                    <a:pt x="4373499" y="0"/>
                    <a:pt x="4392549" y="19177"/>
                    <a:pt x="4392549" y="42672"/>
                  </a:cubicBezTo>
                  <a:lnTo>
                    <a:pt x="4392549" y="213487"/>
                  </a:lnTo>
                  <a:cubicBezTo>
                    <a:pt x="4392549" y="237109"/>
                    <a:pt x="4373372" y="256159"/>
                    <a:pt x="4349877" y="256159"/>
                  </a:cubicBezTo>
                  <a:lnTo>
                    <a:pt x="42672" y="256159"/>
                  </a:lnTo>
                  <a:cubicBezTo>
                    <a:pt x="19177" y="256286"/>
                    <a:pt x="0" y="237109"/>
                    <a:pt x="0" y="213487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9087088" y="2754868"/>
            <a:ext cx="3102235" cy="56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16A34A"/>
                </a:solidFill>
                <a:latin typeface="Aptos Bold"/>
                <a:ea typeface="Aptos Bold"/>
                <a:cs typeface="Aptos Bold"/>
                <a:sym typeface="Aptos Bold"/>
              </a:rPr>
              <a:t>Strong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59637" y="3459137"/>
            <a:ext cx="3157147" cy="5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June: social strategy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00814" y="3980755"/>
            <a:ext cx="3074784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</a:pPr>
            <a:r>
              <a:rPr lang="en-US" sz="1280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Good for K1/K2/S6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2827337" y="2353847"/>
            <a:ext cx="3445983" cy="2004670"/>
            <a:chOff x="0" y="0"/>
            <a:chExt cx="4594644" cy="267289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594606" cy="2672969"/>
            </a:xfrm>
            <a:custGeom>
              <a:avLst/>
              <a:gdLst/>
              <a:ahLst/>
              <a:cxnLst/>
              <a:rect l="l" t="t" r="r" b="b"/>
              <a:pathLst>
                <a:path w="4594606" h="2672969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4149090" y="0"/>
                  </a:lnTo>
                  <a:cubicBezTo>
                    <a:pt x="4395089" y="0"/>
                    <a:pt x="4594606" y="199517"/>
                    <a:pt x="4594606" y="445516"/>
                  </a:cubicBezTo>
                  <a:lnTo>
                    <a:pt x="4594606" y="2227453"/>
                  </a:lnTo>
                  <a:cubicBezTo>
                    <a:pt x="4594606" y="2473452"/>
                    <a:pt x="4395089" y="2672969"/>
                    <a:pt x="4149090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2903117" y="2429627"/>
            <a:ext cx="3294412" cy="192176"/>
            <a:chOff x="0" y="0"/>
            <a:chExt cx="4392549" cy="25623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392549" cy="256160"/>
            </a:xfrm>
            <a:custGeom>
              <a:avLst/>
              <a:gdLst/>
              <a:ahLst/>
              <a:cxnLst/>
              <a:rect l="l" t="t" r="r" b="b"/>
              <a:pathLst>
                <a:path w="4392549" h="256160">
                  <a:moveTo>
                    <a:pt x="0" y="42672"/>
                  </a:moveTo>
                  <a:cubicBezTo>
                    <a:pt x="0" y="19177"/>
                    <a:pt x="19177" y="0"/>
                    <a:pt x="42672" y="0"/>
                  </a:cubicBezTo>
                  <a:lnTo>
                    <a:pt x="4349877" y="0"/>
                  </a:lnTo>
                  <a:cubicBezTo>
                    <a:pt x="4373499" y="0"/>
                    <a:pt x="4392549" y="19177"/>
                    <a:pt x="4392549" y="42672"/>
                  </a:cubicBezTo>
                  <a:lnTo>
                    <a:pt x="4392549" y="213487"/>
                  </a:lnTo>
                  <a:cubicBezTo>
                    <a:pt x="4392549" y="237109"/>
                    <a:pt x="4373372" y="256159"/>
                    <a:pt x="4349877" y="256159"/>
                  </a:cubicBezTo>
                  <a:lnTo>
                    <a:pt x="42672" y="256159"/>
                  </a:lnTo>
                  <a:cubicBezTo>
                    <a:pt x="19177" y="256286"/>
                    <a:pt x="0" y="237109"/>
                    <a:pt x="0" y="213487"/>
                  </a:cubicBezTo>
                  <a:close/>
                </a:path>
              </a:pathLst>
            </a:custGeom>
            <a:solidFill>
              <a:srgbClr val="EF6925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12999206" y="2754868"/>
            <a:ext cx="3102235" cy="56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EF6925"/>
                </a:solidFill>
                <a:latin typeface="Aptos Bold"/>
                <a:ea typeface="Aptos Bold"/>
                <a:cs typeface="Aptos Bold"/>
                <a:sym typeface="Aptos Bold"/>
              </a:rPr>
              <a:t>Good→Strong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971755" y="3459137"/>
            <a:ext cx="3157147" cy="5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EPA readiness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012931" y="3971230"/>
            <a:ext cx="3074784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7"/>
              </a:lnSpc>
            </a:pPr>
            <a:r>
              <a:rPr lang="en-US" sz="1380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Upload &amp; map evidence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159621" y="5099190"/>
            <a:ext cx="7632630" cy="2896914"/>
            <a:chOff x="0" y="0"/>
            <a:chExt cx="10176840" cy="386255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176891" cy="3862578"/>
            </a:xfrm>
            <a:custGeom>
              <a:avLst/>
              <a:gdLst/>
              <a:ahLst/>
              <a:cxnLst/>
              <a:rect l="l" t="t" r="r" b="b"/>
              <a:pathLst>
                <a:path w="10176891" h="3862578">
                  <a:moveTo>
                    <a:pt x="0" y="643763"/>
                  </a:moveTo>
                  <a:cubicBezTo>
                    <a:pt x="0" y="288163"/>
                    <a:pt x="288163" y="0"/>
                    <a:pt x="643763" y="0"/>
                  </a:cubicBezTo>
                  <a:lnTo>
                    <a:pt x="9533128" y="0"/>
                  </a:lnTo>
                  <a:cubicBezTo>
                    <a:pt x="9888728" y="0"/>
                    <a:pt x="10176891" y="288163"/>
                    <a:pt x="10176891" y="643763"/>
                  </a:cubicBezTo>
                  <a:lnTo>
                    <a:pt x="10176891" y="3218815"/>
                  </a:lnTo>
                  <a:cubicBezTo>
                    <a:pt x="10176891" y="3574415"/>
                    <a:pt x="9888728" y="3862578"/>
                    <a:pt x="9533128" y="3862578"/>
                  </a:cubicBezTo>
                  <a:lnTo>
                    <a:pt x="643763" y="3862578"/>
                  </a:lnTo>
                  <a:cubicBezTo>
                    <a:pt x="288163" y="3862578"/>
                    <a:pt x="0" y="3574415"/>
                    <a:pt x="0" y="321881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1551032" y="5435737"/>
            <a:ext cx="6799459" cy="195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9"/>
              </a:lnSpc>
            </a:pPr>
            <a:r>
              <a:rPr lang="en-US" sz="1991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What is already strong</a:t>
            </a:r>
          </a:p>
          <a:p>
            <a:pPr algn="l">
              <a:lnSpc>
                <a:spcPts val="2209"/>
              </a:lnSpc>
            </a:pPr>
            <a:r>
              <a:rPr lang="en-US" sz="184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Bethanie is doing more than reporting activity; she is analysing what the evidence means.</a:t>
            </a:r>
          </a:p>
          <a:p>
            <a:pPr algn="l">
              <a:lnSpc>
                <a:spcPts val="2209"/>
              </a:lnSpc>
            </a:pPr>
            <a:r>
              <a:rPr lang="en-US" sz="184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The assignments link directly to Spinnaker’s B2B maritime audience, commercial priorities and channel strategy.</a:t>
            </a:r>
          </a:p>
          <a:p>
            <a:pPr algn="l">
              <a:lnSpc>
                <a:spcPts val="2209"/>
              </a:lnSpc>
            </a:pPr>
            <a:r>
              <a:rPr lang="en-US" sz="184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There is good balance between quantitative analytics and qualitative insight from stakeholders.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9258386" y="5099190"/>
            <a:ext cx="7632630" cy="2896914"/>
            <a:chOff x="0" y="0"/>
            <a:chExt cx="10176840" cy="386255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176891" cy="3862578"/>
            </a:xfrm>
            <a:custGeom>
              <a:avLst/>
              <a:gdLst/>
              <a:ahLst/>
              <a:cxnLst/>
              <a:rect l="l" t="t" r="r" b="b"/>
              <a:pathLst>
                <a:path w="10176891" h="3862578">
                  <a:moveTo>
                    <a:pt x="0" y="643763"/>
                  </a:moveTo>
                  <a:cubicBezTo>
                    <a:pt x="0" y="288163"/>
                    <a:pt x="288163" y="0"/>
                    <a:pt x="643763" y="0"/>
                  </a:cubicBezTo>
                  <a:lnTo>
                    <a:pt x="9533128" y="0"/>
                  </a:lnTo>
                  <a:cubicBezTo>
                    <a:pt x="9888728" y="0"/>
                    <a:pt x="10176891" y="288163"/>
                    <a:pt x="10176891" y="643763"/>
                  </a:cubicBezTo>
                  <a:lnTo>
                    <a:pt x="10176891" y="3218815"/>
                  </a:lnTo>
                  <a:cubicBezTo>
                    <a:pt x="10176891" y="3574415"/>
                    <a:pt x="9888728" y="3862578"/>
                    <a:pt x="9533128" y="3862578"/>
                  </a:cubicBezTo>
                  <a:lnTo>
                    <a:pt x="643763" y="3862578"/>
                  </a:lnTo>
                  <a:cubicBezTo>
                    <a:pt x="288163" y="3862578"/>
                    <a:pt x="0" y="3574415"/>
                    <a:pt x="0" y="321881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9649797" y="5435737"/>
            <a:ext cx="6799459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9"/>
              </a:lnSpc>
            </a:pPr>
            <a:r>
              <a:rPr lang="en-US" sz="1891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How to make it EPA-ready</a:t>
            </a:r>
          </a:p>
          <a:p>
            <a:pPr algn="l">
              <a:lnSpc>
                <a:spcPts val="2089"/>
              </a:lnSpc>
            </a:pPr>
            <a:r>
              <a:rPr lang="en-US" sz="174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For each assignment, add a one-page evidence cover sheet stating: task, result, KSBs, business impact and next improvement.</a:t>
            </a:r>
          </a:p>
          <a:p>
            <a:pPr algn="l">
              <a:lnSpc>
                <a:spcPts val="2089"/>
              </a:lnSpc>
            </a:pPr>
            <a:r>
              <a:rPr lang="en-US" sz="174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Keep adding witness comments from Helen, Lucy and campaign stakeholders where possible.</a:t>
            </a:r>
          </a:p>
          <a:p>
            <a:pPr algn="l">
              <a:lnSpc>
                <a:spcPts val="2089"/>
              </a:lnSpc>
            </a:pPr>
            <a:r>
              <a:rPr lang="en-US" sz="174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Use screenshots of dashboards, UTMs, website updates and campaign assets to prove personal contribution.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3568951" y="8551745"/>
            <a:ext cx="11118647" cy="494167"/>
            <a:chOff x="0" y="0"/>
            <a:chExt cx="14824862" cy="65888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4824965" cy="658876"/>
            </a:xfrm>
            <a:custGeom>
              <a:avLst/>
              <a:gdLst/>
              <a:ahLst/>
              <a:cxnLst/>
              <a:rect l="l" t="t" r="r" b="b"/>
              <a:pathLst>
                <a:path w="14824965" h="658876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14715110" y="0"/>
                  </a:lnTo>
                  <a:cubicBezTo>
                    <a:pt x="14775816" y="0"/>
                    <a:pt x="14824965" y="49149"/>
                    <a:pt x="14824965" y="109855"/>
                  </a:cubicBezTo>
                  <a:lnTo>
                    <a:pt x="14824965" y="549021"/>
                  </a:lnTo>
                  <a:cubicBezTo>
                    <a:pt x="14824965" y="609727"/>
                    <a:pt x="14775816" y="658876"/>
                    <a:pt x="14715110" y="658876"/>
                  </a:cubicBezTo>
                  <a:lnTo>
                    <a:pt x="109855" y="658876"/>
                  </a:lnTo>
                  <a:cubicBezTo>
                    <a:pt x="49149" y="658876"/>
                    <a:pt x="0" y="609727"/>
                    <a:pt x="0" y="549021"/>
                  </a:cubicBezTo>
                  <a:close/>
                </a:path>
              </a:pathLst>
            </a:custGeom>
            <a:solidFill>
              <a:srgbClr val="0096A5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3568951" y="8565480"/>
            <a:ext cx="11118647" cy="466709"/>
            <a:chOff x="0" y="0"/>
            <a:chExt cx="14824862" cy="62227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824863" cy="622282"/>
            </a:xfrm>
            <a:custGeom>
              <a:avLst/>
              <a:gdLst/>
              <a:ahLst/>
              <a:cxnLst/>
              <a:rect l="l" t="t" r="r" b="b"/>
              <a:pathLst>
                <a:path w="14824863" h="622282">
                  <a:moveTo>
                    <a:pt x="0" y="0"/>
                  </a:moveTo>
                  <a:lnTo>
                    <a:pt x="14824863" y="0"/>
                  </a:lnTo>
                  <a:lnTo>
                    <a:pt x="14824863" y="622282"/>
                  </a:lnTo>
                  <a:lnTo>
                    <a:pt x="0" y="6222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14200" b="-414199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14824862" cy="622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33"/>
                </a:lnSpc>
              </a:pPr>
              <a:r>
                <a:rPr lang="en-US" sz="186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Best practice: show the assessor what changed because Bethanie did the work.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kbc_clean_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233353"/>
            <a:ext cx="2264912" cy="1052436"/>
            <a:chOff x="0" y="0"/>
            <a:chExt cx="3019882" cy="1403248"/>
          </a:xfrm>
        </p:grpSpPr>
        <p:sp>
          <p:nvSpPr>
            <p:cNvPr id="5" name="Freeform 5" descr="kbc_logo_transparent.png"/>
            <p:cNvSpPr/>
            <p:nvPr/>
          </p:nvSpPr>
          <p:spPr>
            <a:xfrm>
              <a:off x="0" y="0"/>
              <a:ext cx="3019933" cy="1403223"/>
            </a:xfrm>
            <a:custGeom>
              <a:avLst/>
              <a:gdLst/>
              <a:ahLst/>
              <a:cxnLst/>
              <a:rect l="l" t="t" r="r" b="b"/>
              <a:pathLst>
                <a:path w="3019933" h="1403223">
                  <a:moveTo>
                    <a:pt x="0" y="0"/>
                  </a:moveTo>
                  <a:lnTo>
                    <a:pt x="3019933" y="0"/>
                  </a:lnTo>
                  <a:lnTo>
                    <a:pt x="3019933" y="1403223"/>
                  </a:lnTo>
                  <a:lnTo>
                    <a:pt x="0" y="140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42568" y="384353"/>
            <a:ext cx="2127647" cy="359035"/>
            <a:chOff x="0" y="0"/>
            <a:chExt cx="2836862" cy="478714"/>
          </a:xfrm>
        </p:grpSpPr>
        <p:sp>
          <p:nvSpPr>
            <p:cNvPr id="7" name="Freeform 7" descr="spinnaker_logo_transparent.png"/>
            <p:cNvSpPr/>
            <p:nvPr/>
          </p:nvSpPr>
          <p:spPr>
            <a:xfrm>
              <a:off x="0" y="0"/>
              <a:ext cx="2836799" cy="478663"/>
            </a:xfrm>
            <a:custGeom>
              <a:avLst/>
              <a:gdLst/>
              <a:ahLst/>
              <a:cxnLst/>
              <a:rect l="l" t="t" r="r" b="b"/>
              <a:pathLst>
                <a:path w="2836799" h="478663">
                  <a:moveTo>
                    <a:pt x="0" y="0"/>
                  </a:moveTo>
                  <a:lnTo>
                    <a:pt x="2836799" y="0"/>
                  </a:lnTo>
                  <a:lnTo>
                    <a:pt x="2836799" y="478663"/>
                  </a:lnTo>
                  <a:lnTo>
                    <a:pt x="0" y="47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46411" y="9855003"/>
            <a:ext cx="16563727" cy="202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>
                <a:solidFill>
                  <a:srgbClr val="626C7D"/>
                </a:solidFill>
                <a:latin typeface="Calibri (MS)"/>
                <a:ea typeface="Calibri (MS)"/>
                <a:cs typeface="Calibri (MS)"/>
                <a:sym typeface="Calibri (MS)"/>
              </a:rPr>
              <a:t>Marketing Executive Level 4 Apprenticeship | Progress Review | Bethanie-Taylor Grenfell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83862" y="741578"/>
            <a:ext cx="11965267" cy="47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Additional Job Activities: April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11322" y="1400461"/>
            <a:ext cx="118280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60696C"/>
                </a:solidFill>
                <a:latin typeface="Aptos"/>
                <a:ea typeface="Aptos"/>
                <a:cs typeface="Aptos"/>
                <a:sym typeface="Aptos"/>
              </a:rPr>
              <a:t>Strong evidence of analytics, content governance, campaign materials and thought-leadership support.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2356" y="2120494"/>
            <a:ext cx="5710885" cy="6534493"/>
            <a:chOff x="0" y="0"/>
            <a:chExt cx="7614514" cy="87126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14539" cy="8712708"/>
            </a:xfrm>
            <a:custGeom>
              <a:avLst/>
              <a:gdLst/>
              <a:ahLst/>
              <a:cxnLst/>
              <a:rect l="l" t="t" r="r" b="b"/>
              <a:pathLst>
                <a:path w="7614539" h="8712708">
                  <a:moveTo>
                    <a:pt x="0" y="1269111"/>
                  </a:moveTo>
                  <a:cubicBezTo>
                    <a:pt x="0" y="568198"/>
                    <a:pt x="568198" y="0"/>
                    <a:pt x="1269111" y="0"/>
                  </a:cubicBezTo>
                  <a:lnTo>
                    <a:pt x="6345428" y="0"/>
                  </a:lnTo>
                  <a:cubicBezTo>
                    <a:pt x="7046341" y="0"/>
                    <a:pt x="7614539" y="568198"/>
                    <a:pt x="7614539" y="1269111"/>
                  </a:cubicBezTo>
                  <a:lnTo>
                    <a:pt x="7614539" y="7443597"/>
                  </a:lnTo>
                  <a:cubicBezTo>
                    <a:pt x="7614539" y="8144510"/>
                    <a:pt x="7046341" y="8712708"/>
                    <a:pt x="6345428" y="8712708"/>
                  </a:cubicBezTo>
                  <a:lnTo>
                    <a:pt x="1269111" y="8712708"/>
                  </a:lnTo>
                  <a:cubicBezTo>
                    <a:pt x="568198" y="8712708"/>
                    <a:pt x="0" y="8144510"/>
                    <a:pt x="0" y="744359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413767" y="2498217"/>
            <a:ext cx="4946352" cy="560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5"/>
              </a:lnSpc>
            </a:pPr>
            <a:r>
              <a:rPr lang="en-US" sz="2629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Strongest April evidence</a:t>
            </a:r>
          </a:p>
          <a:p>
            <a:pPr algn="l">
              <a:lnSpc>
                <a:spcPts val="2975"/>
              </a:lnSpc>
            </a:pPr>
            <a:r>
              <a:rPr lang="en-US" sz="247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Q2 LinkedIn consultant analysis and discussion with the Director of Recruitment.</a:t>
            </a:r>
          </a:p>
          <a:p>
            <a:pPr algn="l">
              <a:lnSpc>
                <a:spcPts val="2975"/>
              </a:lnSpc>
            </a:pPr>
            <a:r>
              <a:rPr lang="en-US" sz="247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OSCAR business card with QR code and written URL for accessible campaign communication.</a:t>
            </a:r>
          </a:p>
          <a:p>
            <a:pPr algn="l">
              <a:lnSpc>
                <a:spcPts val="2975"/>
              </a:lnSpc>
            </a:pPr>
            <a:r>
              <a:rPr lang="en-US" sz="247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Candidate bulletin guidelines to standardise anonymous profiles and reduce compliance risk.</a:t>
            </a:r>
          </a:p>
          <a:p>
            <a:pPr algn="l">
              <a:lnSpc>
                <a:spcPts val="2975"/>
              </a:lnSpc>
            </a:pPr>
            <a:r>
              <a:rPr lang="en-US" sz="247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HR Initiative Awards leaflet template and recruitment blog writing.</a:t>
            </a:r>
          </a:p>
          <a:p>
            <a:pPr algn="l">
              <a:lnSpc>
                <a:spcPts val="2975"/>
              </a:lnSpc>
            </a:pPr>
            <a:r>
              <a:rPr lang="en-US" sz="247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30 Under 30 blog, website updates and LinkedIn campaign support.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130748" y="2120494"/>
            <a:ext cx="4681385" cy="2759640"/>
            <a:chOff x="0" y="0"/>
            <a:chExt cx="6241847" cy="3679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241923" cy="3679571"/>
            </a:xfrm>
            <a:custGeom>
              <a:avLst/>
              <a:gdLst/>
              <a:ahLst/>
              <a:cxnLst/>
              <a:rect l="l" t="t" r="r" b="b"/>
              <a:pathLst>
                <a:path w="6241923" h="367957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5628640" y="0"/>
                  </a:lnTo>
                  <a:cubicBezTo>
                    <a:pt x="5967349" y="0"/>
                    <a:pt x="6241923" y="274574"/>
                    <a:pt x="6241923" y="613283"/>
                  </a:cubicBezTo>
                  <a:lnTo>
                    <a:pt x="6241923" y="3066288"/>
                  </a:lnTo>
                  <a:cubicBezTo>
                    <a:pt x="6241923" y="3404997"/>
                    <a:pt x="5967349" y="3679571"/>
                    <a:pt x="5628640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220255" y="2210000"/>
            <a:ext cx="4502363" cy="2237461"/>
            <a:chOff x="0" y="0"/>
            <a:chExt cx="6003150" cy="2983281"/>
          </a:xfrm>
        </p:grpSpPr>
        <p:sp>
          <p:nvSpPr>
            <p:cNvPr id="17" name="Freeform 17" descr="Evidence_1___LinkedIn_Consultant_Analysis_1_340x175.png"/>
            <p:cNvSpPr/>
            <p:nvPr/>
          </p:nvSpPr>
          <p:spPr>
            <a:xfrm>
              <a:off x="0" y="0"/>
              <a:ext cx="6003163" cy="2983230"/>
            </a:xfrm>
            <a:custGeom>
              <a:avLst/>
              <a:gdLst/>
              <a:ahLst/>
              <a:cxnLst/>
              <a:rect l="l" t="t" r="r" b="b"/>
              <a:pathLst>
                <a:path w="6003163" h="2983230">
                  <a:moveTo>
                    <a:pt x="0" y="0"/>
                  </a:moveTo>
                  <a:lnTo>
                    <a:pt x="6003163" y="0"/>
                  </a:lnTo>
                  <a:lnTo>
                    <a:pt x="6003163" y="2983230"/>
                  </a:lnTo>
                  <a:lnTo>
                    <a:pt x="0" y="2983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786" b="-1787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7247706" y="4488637"/>
            <a:ext cx="4447461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405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LinkedIn consultant performance analysis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209631" y="2120494"/>
            <a:ext cx="4887287" cy="2759640"/>
            <a:chOff x="0" y="0"/>
            <a:chExt cx="6516383" cy="3679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516370" cy="3679571"/>
            </a:xfrm>
            <a:custGeom>
              <a:avLst/>
              <a:gdLst/>
              <a:ahLst/>
              <a:cxnLst/>
              <a:rect l="l" t="t" r="r" b="b"/>
              <a:pathLst>
                <a:path w="6516370" h="367957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5903087" y="0"/>
                  </a:lnTo>
                  <a:cubicBezTo>
                    <a:pt x="6241796" y="0"/>
                    <a:pt x="6516370" y="274574"/>
                    <a:pt x="6516370" y="613283"/>
                  </a:cubicBezTo>
                  <a:lnTo>
                    <a:pt x="6516370" y="3066288"/>
                  </a:lnTo>
                  <a:cubicBezTo>
                    <a:pt x="6516370" y="3404997"/>
                    <a:pt x="6241796" y="3679571"/>
                    <a:pt x="5903087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2299147" y="2210000"/>
            <a:ext cx="4708265" cy="2237461"/>
            <a:chOff x="0" y="0"/>
            <a:chExt cx="6277686" cy="2983281"/>
          </a:xfrm>
        </p:grpSpPr>
        <p:sp>
          <p:nvSpPr>
            <p:cNvPr id="22" name="Freeform 22" descr="Evidence_3___Candidate_Bulletin_Guidelines_1_355x175.png"/>
            <p:cNvSpPr/>
            <p:nvPr/>
          </p:nvSpPr>
          <p:spPr>
            <a:xfrm>
              <a:off x="0" y="0"/>
              <a:ext cx="6277737" cy="2983230"/>
            </a:xfrm>
            <a:custGeom>
              <a:avLst/>
              <a:gdLst/>
              <a:ahLst/>
              <a:cxnLst/>
              <a:rect l="l" t="t" r="r" b="b"/>
              <a:pathLst>
                <a:path w="6277737" h="2983230">
                  <a:moveTo>
                    <a:pt x="0" y="0"/>
                  </a:moveTo>
                  <a:lnTo>
                    <a:pt x="6277737" y="0"/>
                  </a:lnTo>
                  <a:lnTo>
                    <a:pt x="6277737" y="2983230"/>
                  </a:lnTo>
                  <a:lnTo>
                    <a:pt x="0" y="2983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866" b="-1868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2326598" y="4488637"/>
            <a:ext cx="4653363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405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Candidate bulletin guidance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130748" y="5277641"/>
            <a:ext cx="4681385" cy="3034179"/>
            <a:chOff x="0" y="0"/>
            <a:chExt cx="6241847" cy="40455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241796" cy="4045585"/>
            </a:xfrm>
            <a:custGeom>
              <a:avLst/>
              <a:gdLst/>
              <a:ahLst/>
              <a:cxnLst/>
              <a:rect l="l" t="t" r="r" b="b"/>
              <a:pathLst>
                <a:path w="6241796" h="4045585">
                  <a:moveTo>
                    <a:pt x="0" y="674243"/>
                  </a:moveTo>
                  <a:cubicBezTo>
                    <a:pt x="0" y="301879"/>
                    <a:pt x="301879" y="0"/>
                    <a:pt x="674243" y="0"/>
                  </a:cubicBezTo>
                  <a:lnTo>
                    <a:pt x="5567553" y="0"/>
                  </a:lnTo>
                  <a:cubicBezTo>
                    <a:pt x="5939917" y="0"/>
                    <a:pt x="6241796" y="301879"/>
                    <a:pt x="6241796" y="674243"/>
                  </a:cubicBezTo>
                  <a:lnTo>
                    <a:pt x="6241796" y="3371342"/>
                  </a:lnTo>
                  <a:cubicBezTo>
                    <a:pt x="6241796" y="3743706"/>
                    <a:pt x="5939917" y="4045585"/>
                    <a:pt x="5567553" y="4045585"/>
                  </a:cubicBezTo>
                  <a:lnTo>
                    <a:pt x="674243" y="4045585"/>
                  </a:lnTo>
                  <a:cubicBezTo>
                    <a:pt x="301879" y="4045585"/>
                    <a:pt x="0" y="3743706"/>
                    <a:pt x="0" y="337134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7220255" y="5367147"/>
            <a:ext cx="4502363" cy="2511990"/>
            <a:chOff x="0" y="0"/>
            <a:chExt cx="6003150" cy="3349320"/>
          </a:xfrm>
        </p:grpSpPr>
        <p:sp>
          <p:nvSpPr>
            <p:cNvPr id="27" name="Freeform 27" descr="under30_340x195.png"/>
            <p:cNvSpPr/>
            <p:nvPr/>
          </p:nvSpPr>
          <p:spPr>
            <a:xfrm>
              <a:off x="0" y="0"/>
              <a:ext cx="6003163" cy="3349371"/>
            </a:xfrm>
            <a:custGeom>
              <a:avLst/>
              <a:gdLst/>
              <a:ahLst/>
              <a:cxnLst/>
              <a:rect l="l" t="t" r="r" b="b"/>
              <a:pathLst>
                <a:path w="6003163" h="3349371">
                  <a:moveTo>
                    <a:pt x="0" y="0"/>
                  </a:moveTo>
                  <a:lnTo>
                    <a:pt x="6003163" y="0"/>
                  </a:lnTo>
                  <a:lnTo>
                    <a:pt x="6003163" y="3349371"/>
                  </a:lnTo>
                  <a:lnTo>
                    <a:pt x="0" y="3349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398" b="-1396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7247706" y="7920323"/>
            <a:ext cx="4447461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405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30 Under 30 campaign evidence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209631" y="5277641"/>
            <a:ext cx="4887287" cy="3034179"/>
            <a:chOff x="0" y="0"/>
            <a:chExt cx="6516383" cy="404557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516370" cy="4045585"/>
            </a:xfrm>
            <a:custGeom>
              <a:avLst/>
              <a:gdLst/>
              <a:ahLst/>
              <a:cxnLst/>
              <a:rect l="l" t="t" r="r" b="b"/>
              <a:pathLst>
                <a:path w="6516370" h="4045585">
                  <a:moveTo>
                    <a:pt x="0" y="674243"/>
                  </a:moveTo>
                  <a:cubicBezTo>
                    <a:pt x="0" y="301879"/>
                    <a:pt x="301879" y="0"/>
                    <a:pt x="674243" y="0"/>
                  </a:cubicBezTo>
                  <a:lnTo>
                    <a:pt x="5842127" y="0"/>
                  </a:lnTo>
                  <a:cubicBezTo>
                    <a:pt x="6214491" y="0"/>
                    <a:pt x="6516370" y="301879"/>
                    <a:pt x="6516370" y="674243"/>
                  </a:cubicBezTo>
                  <a:lnTo>
                    <a:pt x="6516370" y="3371342"/>
                  </a:lnTo>
                  <a:cubicBezTo>
                    <a:pt x="6516370" y="3743706"/>
                    <a:pt x="6214491" y="4045585"/>
                    <a:pt x="5842127" y="4045585"/>
                  </a:cubicBezTo>
                  <a:lnTo>
                    <a:pt x="674243" y="4045585"/>
                  </a:lnTo>
                  <a:cubicBezTo>
                    <a:pt x="301879" y="4045585"/>
                    <a:pt x="0" y="3743706"/>
                    <a:pt x="0" y="337134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2299147" y="5367147"/>
            <a:ext cx="4708265" cy="2511990"/>
            <a:chOff x="0" y="0"/>
            <a:chExt cx="6277686" cy="3349320"/>
          </a:xfrm>
        </p:grpSpPr>
        <p:sp>
          <p:nvSpPr>
            <p:cNvPr id="32" name="Freeform 32" descr="Evidence_4___Award_Leaflet_Template_1_355x195.png"/>
            <p:cNvSpPr/>
            <p:nvPr/>
          </p:nvSpPr>
          <p:spPr>
            <a:xfrm>
              <a:off x="0" y="0"/>
              <a:ext cx="6277737" cy="3349371"/>
            </a:xfrm>
            <a:custGeom>
              <a:avLst/>
              <a:gdLst/>
              <a:ahLst/>
              <a:cxnLst/>
              <a:rect l="l" t="t" r="r" b="b"/>
              <a:pathLst>
                <a:path w="6277737" h="3349371">
                  <a:moveTo>
                    <a:pt x="0" y="0"/>
                  </a:moveTo>
                  <a:lnTo>
                    <a:pt x="6277737" y="0"/>
                  </a:lnTo>
                  <a:lnTo>
                    <a:pt x="6277737" y="3349371"/>
                  </a:lnTo>
                  <a:lnTo>
                    <a:pt x="0" y="3349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477" b="-1476"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12326598" y="7920323"/>
            <a:ext cx="4653363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405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Award leaflet template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3774853" y="8812559"/>
            <a:ext cx="10844108" cy="439255"/>
            <a:chOff x="0" y="0"/>
            <a:chExt cx="14458810" cy="58567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458823" cy="585724"/>
            </a:xfrm>
            <a:custGeom>
              <a:avLst/>
              <a:gdLst/>
              <a:ahLst/>
              <a:cxnLst/>
              <a:rect l="l" t="t" r="r" b="b"/>
              <a:pathLst>
                <a:path w="14458823" h="585724">
                  <a:moveTo>
                    <a:pt x="0" y="97663"/>
                  </a:moveTo>
                  <a:cubicBezTo>
                    <a:pt x="0" y="43688"/>
                    <a:pt x="43688" y="0"/>
                    <a:pt x="97663" y="0"/>
                  </a:cubicBezTo>
                  <a:lnTo>
                    <a:pt x="14361161" y="0"/>
                  </a:lnTo>
                  <a:cubicBezTo>
                    <a:pt x="14415008" y="0"/>
                    <a:pt x="14458823" y="43688"/>
                    <a:pt x="14458823" y="97663"/>
                  </a:cubicBezTo>
                  <a:lnTo>
                    <a:pt x="14458823" y="488061"/>
                  </a:lnTo>
                  <a:cubicBezTo>
                    <a:pt x="14458823" y="541909"/>
                    <a:pt x="14415136" y="585724"/>
                    <a:pt x="14361161" y="585724"/>
                  </a:cubicBezTo>
                  <a:lnTo>
                    <a:pt x="97663" y="585724"/>
                  </a:lnTo>
                  <a:cubicBezTo>
                    <a:pt x="43688" y="585724"/>
                    <a:pt x="0" y="541909"/>
                    <a:pt x="0" y="488061"/>
                  </a:cubicBezTo>
                  <a:close/>
                </a:path>
              </a:pathLst>
            </a:custGeom>
            <a:solidFill>
              <a:srgbClr val="083149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3774853" y="8826284"/>
            <a:ext cx="10844108" cy="411802"/>
            <a:chOff x="0" y="0"/>
            <a:chExt cx="14458810" cy="54906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458817" cy="549066"/>
            </a:xfrm>
            <a:custGeom>
              <a:avLst/>
              <a:gdLst/>
              <a:ahLst/>
              <a:cxnLst/>
              <a:rect l="l" t="t" r="r" b="b"/>
              <a:pathLst>
                <a:path w="14458817" h="549066">
                  <a:moveTo>
                    <a:pt x="0" y="0"/>
                  </a:moveTo>
                  <a:lnTo>
                    <a:pt x="14458817" y="0"/>
                  </a:lnTo>
                  <a:lnTo>
                    <a:pt x="14458817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463107" b="-463109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4458810" cy="5490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5"/>
                </a:lnSpc>
              </a:pPr>
              <a:r>
                <a:rPr lang="en-US" sz="1729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April OTJ submitted: 13.15 hours — proportionate to the volume and quality of workplace artefacts.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kbc_clean_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233353"/>
            <a:ext cx="2264912" cy="1052436"/>
            <a:chOff x="0" y="0"/>
            <a:chExt cx="3019882" cy="1403248"/>
          </a:xfrm>
        </p:grpSpPr>
        <p:sp>
          <p:nvSpPr>
            <p:cNvPr id="5" name="Freeform 5" descr="kbc_logo_transparent.png"/>
            <p:cNvSpPr/>
            <p:nvPr/>
          </p:nvSpPr>
          <p:spPr>
            <a:xfrm>
              <a:off x="0" y="0"/>
              <a:ext cx="3019933" cy="1403223"/>
            </a:xfrm>
            <a:custGeom>
              <a:avLst/>
              <a:gdLst/>
              <a:ahLst/>
              <a:cxnLst/>
              <a:rect l="l" t="t" r="r" b="b"/>
              <a:pathLst>
                <a:path w="3019933" h="1403223">
                  <a:moveTo>
                    <a:pt x="0" y="0"/>
                  </a:moveTo>
                  <a:lnTo>
                    <a:pt x="3019933" y="0"/>
                  </a:lnTo>
                  <a:lnTo>
                    <a:pt x="3019933" y="1403223"/>
                  </a:lnTo>
                  <a:lnTo>
                    <a:pt x="0" y="140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42568" y="384353"/>
            <a:ext cx="2127647" cy="359035"/>
            <a:chOff x="0" y="0"/>
            <a:chExt cx="2836862" cy="478714"/>
          </a:xfrm>
        </p:grpSpPr>
        <p:sp>
          <p:nvSpPr>
            <p:cNvPr id="7" name="Freeform 7" descr="spinnaker_logo_transparent.png"/>
            <p:cNvSpPr/>
            <p:nvPr/>
          </p:nvSpPr>
          <p:spPr>
            <a:xfrm>
              <a:off x="0" y="0"/>
              <a:ext cx="2836799" cy="478663"/>
            </a:xfrm>
            <a:custGeom>
              <a:avLst/>
              <a:gdLst/>
              <a:ahLst/>
              <a:cxnLst/>
              <a:rect l="l" t="t" r="r" b="b"/>
              <a:pathLst>
                <a:path w="2836799" h="478663">
                  <a:moveTo>
                    <a:pt x="0" y="0"/>
                  </a:moveTo>
                  <a:lnTo>
                    <a:pt x="2836799" y="0"/>
                  </a:lnTo>
                  <a:lnTo>
                    <a:pt x="2836799" y="478663"/>
                  </a:lnTo>
                  <a:lnTo>
                    <a:pt x="0" y="47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46411" y="9855003"/>
            <a:ext cx="16563727" cy="202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>
                <a:solidFill>
                  <a:srgbClr val="626C7D"/>
                </a:solidFill>
                <a:latin typeface="Calibri (MS)"/>
                <a:ea typeface="Calibri (MS)"/>
                <a:cs typeface="Calibri (MS)"/>
                <a:sym typeface="Calibri (MS)"/>
              </a:rPr>
              <a:t>Marketing Executive Level 4 Apprenticeship | Progress Review | Bethanie-Taylor Grenfell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83862" y="741578"/>
            <a:ext cx="11965267" cy="47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Additional Job Activities: May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11322" y="1390936"/>
            <a:ext cx="11828002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5"/>
              </a:lnSpc>
            </a:pPr>
            <a:r>
              <a:rPr lang="en-US" sz="1529">
                <a:solidFill>
                  <a:srgbClr val="60696C"/>
                </a:solidFill>
                <a:latin typeface="Aptos"/>
                <a:ea typeface="Aptos"/>
                <a:cs typeface="Aptos"/>
                <a:sym typeface="Aptos"/>
              </a:rPr>
              <a:t>The Maritime People &amp; Culture Conference evidence is especially strong for campaign delivery, content creation and stakeholder impact.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2356" y="2120494"/>
            <a:ext cx="7495365" cy="6397228"/>
            <a:chOff x="0" y="0"/>
            <a:chExt cx="9993820" cy="85296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993757" cy="8529701"/>
            </a:xfrm>
            <a:custGeom>
              <a:avLst/>
              <a:gdLst/>
              <a:ahLst/>
              <a:cxnLst/>
              <a:rect l="l" t="t" r="r" b="b"/>
              <a:pathLst>
                <a:path w="9993757" h="8529701">
                  <a:moveTo>
                    <a:pt x="0" y="1421638"/>
                  </a:moveTo>
                  <a:cubicBezTo>
                    <a:pt x="0" y="636524"/>
                    <a:pt x="636524" y="0"/>
                    <a:pt x="1421638" y="0"/>
                  </a:cubicBezTo>
                  <a:lnTo>
                    <a:pt x="8572246" y="0"/>
                  </a:lnTo>
                  <a:cubicBezTo>
                    <a:pt x="9357360" y="0"/>
                    <a:pt x="9993757" y="636524"/>
                    <a:pt x="9993757" y="1421638"/>
                  </a:cubicBezTo>
                  <a:lnTo>
                    <a:pt x="9993757" y="7108063"/>
                  </a:lnTo>
                  <a:cubicBezTo>
                    <a:pt x="9993757" y="7893177"/>
                    <a:pt x="9357233" y="8529701"/>
                    <a:pt x="8572119" y="8529701"/>
                  </a:cubicBezTo>
                  <a:lnTo>
                    <a:pt x="1421638" y="8529701"/>
                  </a:lnTo>
                  <a:cubicBezTo>
                    <a:pt x="636524" y="8529574"/>
                    <a:pt x="0" y="7893177"/>
                    <a:pt x="0" y="71080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413767" y="2498217"/>
            <a:ext cx="6730832" cy="559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2616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Strongest May evidence</a:t>
            </a:r>
          </a:p>
          <a:p>
            <a:pPr algn="l">
              <a:lnSpc>
                <a:spcPts val="2959"/>
              </a:lnSpc>
            </a:pPr>
            <a:r>
              <a:rPr lang="en-US" sz="246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Conference session notes captured detailed sector insight across geopolitics, AI, wellbeing, mentorship, inclusion and leadership.</a:t>
            </a:r>
          </a:p>
          <a:p>
            <a:pPr algn="l">
              <a:lnSpc>
                <a:spcPts val="2959"/>
              </a:lnSpc>
            </a:pPr>
            <a:r>
              <a:rPr lang="en-US" sz="246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Produced/managed 20 LinkedIn posts and 78 Instagram Stories across the event period.</a:t>
            </a:r>
          </a:p>
          <a:p>
            <a:pPr algn="l">
              <a:lnSpc>
                <a:spcPts val="2959"/>
              </a:lnSpc>
            </a:pPr>
            <a:r>
              <a:rPr lang="en-US" sz="246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Wrap-up blog translated two days of conference content into a coherent thought-leadership summary.</a:t>
            </a:r>
          </a:p>
          <a:p>
            <a:pPr algn="l">
              <a:lnSpc>
                <a:spcPts val="2959"/>
              </a:lnSpc>
            </a:pPr>
            <a:r>
              <a:rPr lang="en-US" sz="246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Evidence shows event photos, conference content, feedback and recognition for the 30 Under 30 panel concept.</a:t>
            </a:r>
          </a:p>
          <a:p>
            <a:pPr algn="l">
              <a:lnSpc>
                <a:spcPts val="2959"/>
              </a:lnSpc>
            </a:pPr>
            <a:r>
              <a:rPr lang="en-US" sz="246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External praise highlighted the usefulness of Bethanie’s LinkedIn session posts for delegates reporting back after the event.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983856" y="2120494"/>
            <a:ext cx="3789150" cy="6397228"/>
            <a:chOff x="0" y="0"/>
            <a:chExt cx="5052200" cy="85296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52060" cy="8529574"/>
            </a:xfrm>
            <a:custGeom>
              <a:avLst/>
              <a:gdLst/>
              <a:ahLst/>
              <a:cxnLst/>
              <a:rect l="l" t="t" r="r" b="b"/>
              <a:pathLst>
                <a:path w="5052060" h="8529574">
                  <a:moveTo>
                    <a:pt x="0" y="842010"/>
                  </a:moveTo>
                  <a:cubicBezTo>
                    <a:pt x="0" y="376936"/>
                    <a:pt x="376936" y="0"/>
                    <a:pt x="842010" y="0"/>
                  </a:cubicBezTo>
                  <a:lnTo>
                    <a:pt x="4210050" y="0"/>
                  </a:lnTo>
                  <a:cubicBezTo>
                    <a:pt x="4675124" y="0"/>
                    <a:pt x="5052060" y="376936"/>
                    <a:pt x="5052060" y="842010"/>
                  </a:cubicBezTo>
                  <a:lnTo>
                    <a:pt x="5052060" y="7687564"/>
                  </a:lnTo>
                  <a:cubicBezTo>
                    <a:pt x="5052060" y="8152638"/>
                    <a:pt x="4675124" y="8529574"/>
                    <a:pt x="4210050" y="8529574"/>
                  </a:cubicBezTo>
                  <a:lnTo>
                    <a:pt x="842010" y="8529574"/>
                  </a:lnTo>
                  <a:cubicBezTo>
                    <a:pt x="376936" y="8529574"/>
                    <a:pt x="0" y="8152638"/>
                    <a:pt x="0" y="768756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073363" y="2210000"/>
            <a:ext cx="3610127" cy="5875039"/>
            <a:chOff x="0" y="0"/>
            <a:chExt cx="4813503" cy="7833385"/>
          </a:xfrm>
        </p:grpSpPr>
        <p:sp>
          <p:nvSpPr>
            <p:cNvPr id="17" name="Freeform 17" descr="event_photos_275x440.png"/>
            <p:cNvSpPr/>
            <p:nvPr/>
          </p:nvSpPr>
          <p:spPr>
            <a:xfrm>
              <a:off x="0" y="0"/>
              <a:ext cx="4813554" cy="7833360"/>
            </a:xfrm>
            <a:custGeom>
              <a:avLst/>
              <a:gdLst/>
              <a:ahLst/>
              <a:cxnLst/>
              <a:rect l="l" t="t" r="r" b="b"/>
              <a:pathLst>
                <a:path w="4813554" h="7833360">
                  <a:moveTo>
                    <a:pt x="0" y="0"/>
                  </a:moveTo>
                  <a:lnTo>
                    <a:pt x="4813554" y="0"/>
                  </a:lnTo>
                  <a:lnTo>
                    <a:pt x="4813554" y="7833360"/>
                  </a:lnTo>
                  <a:lnTo>
                    <a:pt x="0" y="783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55" r="-854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9100814" y="8126225"/>
            <a:ext cx="3555225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405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Event photos and conference set-up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101876" y="2120494"/>
            <a:ext cx="3857777" cy="2965542"/>
            <a:chOff x="0" y="0"/>
            <a:chExt cx="5143703" cy="395405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43627" cy="3954018"/>
            </a:xfrm>
            <a:custGeom>
              <a:avLst/>
              <a:gdLst/>
              <a:ahLst/>
              <a:cxnLst/>
              <a:rect l="l" t="t" r="r" b="b"/>
              <a:pathLst>
                <a:path w="5143627" h="3954018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4484624" y="0"/>
                  </a:lnTo>
                  <a:cubicBezTo>
                    <a:pt x="4848606" y="0"/>
                    <a:pt x="5143627" y="295021"/>
                    <a:pt x="5143627" y="659003"/>
                  </a:cubicBezTo>
                  <a:lnTo>
                    <a:pt x="5143627" y="3295015"/>
                  </a:lnTo>
                  <a:cubicBezTo>
                    <a:pt x="5143627" y="3658997"/>
                    <a:pt x="4848606" y="3954018"/>
                    <a:pt x="4484624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3191382" y="2210000"/>
            <a:ext cx="3678765" cy="2443353"/>
            <a:chOff x="0" y="0"/>
            <a:chExt cx="4905019" cy="3257804"/>
          </a:xfrm>
        </p:grpSpPr>
        <p:sp>
          <p:nvSpPr>
            <p:cNvPr id="22" name="Freeform 22" descr="conference_content_280x190.png"/>
            <p:cNvSpPr/>
            <p:nvPr/>
          </p:nvSpPr>
          <p:spPr>
            <a:xfrm>
              <a:off x="0" y="0"/>
              <a:ext cx="4904994" cy="3257804"/>
            </a:xfrm>
            <a:custGeom>
              <a:avLst/>
              <a:gdLst/>
              <a:ahLst/>
              <a:cxnLst/>
              <a:rect l="l" t="t" r="r" b="b"/>
              <a:pathLst>
                <a:path w="4904994" h="3257804">
                  <a:moveTo>
                    <a:pt x="0" y="0"/>
                  </a:moveTo>
                  <a:lnTo>
                    <a:pt x="4904994" y="0"/>
                  </a:lnTo>
                  <a:lnTo>
                    <a:pt x="4904994" y="3257804"/>
                  </a:lnTo>
                  <a:lnTo>
                    <a:pt x="0" y="325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3" b="-1083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3218833" y="4694539"/>
            <a:ext cx="3623853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405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Conference LinkedIn content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101876" y="5552170"/>
            <a:ext cx="3857777" cy="2965542"/>
            <a:chOff x="0" y="0"/>
            <a:chExt cx="5143703" cy="395405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143627" cy="3954018"/>
            </a:xfrm>
            <a:custGeom>
              <a:avLst/>
              <a:gdLst/>
              <a:ahLst/>
              <a:cxnLst/>
              <a:rect l="l" t="t" r="r" b="b"/>
              <a:pathLst>
                <a:path w="5143627" h="3954018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4484624" y="0"/>
                  </a:lnTo>
                  <a:cubicBezTo>
                    <a:pt x="4848606" y="0"/>
                    <a:pt x="5143627" y="295021"/>
                    <a:pt x="5143627" y="659003"/>
                  </a:cubicBezTo>
                  <a:lnTo>
                    <a:pt x="5143627" y="3295015"/>
                  </a:lnTo>
                  <a:cubicBezTo>
                    <a:pt x="5143627" y="3658997"/>
                    <a:pt x="4848606" y="3954018"/>
                    <a:pt x="4484624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3191382" y="5641686"/>
            <a:ext cx="3678765" cy="2443353"/>
            <a:chOff x="0" y="0"/>
            <a:chExt cx="4905019" cy="3257804"/>
          </a:xfrm>
        </p:grpSpPr>
        <p:sp>
          <p:nvSpPr>
            <p:cNvPr id="27" name="Freeform 27" descr="conference_feedback_280x190.png"/>
            <p:cNvSpPr/>
            <p:nvPr/>
          </p:nvSpPr>
          <p:spPr>
            <a:xfrm>
              <a:off x="0" y="0"/>
              <a:ext cx="4904994" cy="3257804"/>
            </a:xfrm>
            <a:custGeom>
              <a:avLst/>
              <a:gdLst/>
              <a:ahLst/>
              <a:cxnLst/>
              <a:rect l="l" t="t" r="r" b="b"/>
              <a:pathLst>
                <a:path w="4904994" h="3257804">
                  <a:moveTo>
                    <a:pt x="0" y="0"/>
                  </a:moveTo>
                  <a:lnTo>
                    <a:pt x="4904994" y="0"/>
                  </a:lnTo>
                  <a:lnTo>
                    <a:pt x="4904994" y="3257804"/>
                  </a:lnTo>
                  <a:lnTo>
                    <a:pt x="0" y="325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083" b="-1083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13218833" y="8126216"/>
            <a:ext cx="3623853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405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Stakeholder feedback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3912118" y="8812559"/>
            <a:ext cx="10432313" cy="439255"/>
            <a:chOff x="0" y="0"/>
            <a:chExt cx="13909751" cy="58567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909802" cy="585724"/>
            </a:xfrm>
            <a:custGeom>
              <a:avLst/>
              <a:gdLst/>
              <a:ahLst/>
              <a:cxnLst/>
              <a:rect l="l" t="t" r="r" b="b"/>
              <a:pathLst>
                <a:path w="13909802" h="585724">
                  <a:moveTo>
                    <a:pt x="0" y="97663"/>
                  </a:moveTo>
                  <a:cubicBezTo>
                    <a:pt x="0" y="43688"/>
                    <a:pt x="43688" y="0"/>
                    <a:pt x="97663" y="0"/>
                  </a:cubicBezTo>
                  <a:lnTo>
                    <a:pt x="13812138" y="0"/>
                  </a:lnTo>
                  <a:cubicBezTo>
                    <a:pt x="13865986" y="0"/>
                    <a:pt x="13909802" y="43688"/>
                    <a:pt x="13909802" y="97663"/>
                  </a:cubicBezTo>
                  <a:lnTo>
                    <a:pt x="13909802" y="488061"/>
                  </a:lnTo>
                  <a:cubicBezTo>
                    <a:pt x="13909802" y="541909"/>
                    <a:pt x="13866113" y="585724"/>
                    <a:pt x="13812138" y="585724"/>
                  </a:cubicBezTo>
                  <a:lnTo>
                    <a:pt x="97663" y="585724"/>
                  </a:lnTo>
                  <a:cubicBezTo>
                    <a:pt x="43688" y="585724"/>
                    <a:pt x="0" y="541909"/>
                    <a:pt x="0" y="488061"/>
                  </a:cubicBezTo>
                  <a:close/>
                </a:path>
              </a:pathLst>
            </a:custGeom>
            <a:solidFill>
              <a:srgbClr val="0096A5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3912118" y="8826284"/>
            <a:ext cx="10432313" cy="411802"/>
            <a:chOff x="0" y="0"/>
            <a:chExt cx="13909751" cy="54906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909746" cy="549066"/>
            </a:xfrm>
            <a:custGeom>
              <a:avLst/>
              <a:gdLst/>
              <a:ahLst/>
              <a:cxnLst/>
              <a:rect l="l" t="t" r="r" b="b"/>
              <a:pathLst>
                <a:path w="13909746" h="549066">
                  <a:moveTo>
                    <a:pt x="0" y="0"/>
                  </a:moveTo>
                  <a:lnTo>
                    <a:pt x="13909746" y="0"/>
                  </a:lnTo>
                  <a:lnTo>
                    <a:pt x="13909746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443623" b="-443624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3909751" cy="5490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1"/>
                </a:lnSpc>
              </a:pPr>
              <a:r>
                <a:rPr lang="en-US" sz="16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Portfolio value: strong evidence for S1.3, S2.1, S2.2, S3.1, S3.2, S5.3 and B4.1.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kbc_clean_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233353"/>
            <a:ext cx="2264912" cy="1052436"/>
            <a:chOff x="0" y="0"/>
            <a:chExt cx="3019882" cy="1403248"/>
          </a:xfrm>
        </p:grpSpPr>
        <p:sp>
          <p:nvSpPr>
            <p:cNvPr id="5" name="Freeform 5" descr="kbc_logo_transparent.png"/>
            <p:cNvSpPr/>
            <p:nvPr/>
          </p:nvSpPr>
          <p:spPr>
            <a:xfrm>
              <a:off x="0" y="0"/>
              <a:ext cx="3019933" cy="1403223"/>
            </a:xfrm>
            <a:custGeom>
              <a:avLst/>
              <a:gdLst/>
              <a:ahLst/>
              <a:cxnLst/>
              <a:rect l="l" t="t" r="r" b="b"/>
              <a:pathLst>
                <a:path w="3019933" h="1403223">
                  <a:moveTo>
                    <a:pt x="0" y="0"/>
                  </a:moveTo>
                  <a:lnTo>
                    <a:pt x="3019933" y="0"/>
                  </a:lnTo>
                  <a:lnTo>
                    <a:pt x="3019933" y="1403223"/>
                  </a:lnTo>
                  <a:lnTo>
                    <a:pt x="0" y="140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42568" y="384353"/>
            <a:ext cx="2127647" cy="359035"/>
            <a:chOff x="0" y="0"/>
            <a:chExt cx="2836862" cy="478714"/>
          </a:xfrm>
        </p:grpSpPr>
        <p:sp>
          <p:nvSpPr>
            <p:cNvPr id="7" name="Freeform 7" descr="spinnaker_logo_transparent.png"/>
            <p:cNvSpPr/>
            <p:nvPr/>
          </p:nvSpPr>
          <p:spPr>
            <a:xfrm>
              <a:off x="0" y="0"/>
              <a:ext cx="2836799" cy="478663"/>
            </a:xfrm>
            <a:custGeom>
              <a:avLst/>
              <a:gdLst/>
              <a:ahLst/>
              <a:cxnLst/>
              <a:rect l="l" t="t" r="r" b="b"/>
              <a:pathLst>
                <a:path w="2836799" h="478663">
                  <a:moveTo>
                    <a:pt x="0" y="0"/>
                  </a:moveTo>
                  <a:lnTo>
                    <a:pt x="2836799" y="0"/>
                  </a:lnTo>
                  <a:lnTo>
                    <a:pt x="2836799" y="478663"/>
                  </a:lnTo>
                  <a:lnTo>
                    <a:pt x="0" y="47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46411" y="9855003"/>
            <a:ext cx="16563727" cy="202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>
                <a:solidFill>
                  <a:srgbClr val="626C7D"/>
                </a:solidFill>
                <a:latin typeface="Calibri (MS)"/>
                <a:ea typeface="Calibri (MS)"/>
                <a:cs typeface="Calibri (MS)"/>
                <a:sym typeface="Calibri (MS)"/>
              </a:rPr>
              <a:t>Marketing Executive Level 4 Apprenticeship | Progress Review | Bethanie-Taylor Grenfell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83862" y="741578"/>
            <a:ext cx="11965267" cy="47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Additional Job Activities: June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11322" y="1390936"/>
            <a:ext cx="11828002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5"/>
              </a:lnSpc>
            </a:pPr>
            <a:r>
              <a:rPr lang="en-US" sz="1529">
                <a:solidFill>
                  <a:srgbClr val="60696C"/>
                </a:solidFill>
                <a:latin typeface="Aptos"/>
                <a:ea typeface="Aptos"/>
                <a:cs typeface="Aptos"/>
                <a:sym typeface="Aptos"/>
              </a:rPr>
              <a:t>June shows Bethanie stepping into emerging digital practice: AEO, SEO, website changes, email campaigns and consultant enablement.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2356" y="2120494"/>
            <a:ext cx="5985424" cy="6397228"/>
            <a:chOff x="0" y="0"/>
            <a:chExt cx="7980566" cy="85296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980553" cy="8529574"/>
            </a:xfrm>
            <a:custGeom>
              <a:avLst/>
              <a:gdLst/>
              <a:ahLst/>
              <a:cxnLst/>
              <a:rect l="l" t="t" r="r" b="b"/>
              <a:pathLst>
                <a:path w="7980553" h="8529574">
                  <a:moveTo>
                    <a:pt x="0" y="1330071"/>
                  </a:moveTo>
                  <a:cubicBezTo>
                    <a:pt x="0" y="595503"/>
                    <a:pt x="595503" y="0"/>
                    <a:pt x="1330071" y="0"/>
                  </a:cubicBezTo>
                  <a:lnTo>
                    <a:pt x="6650482" y="0"/>
                  </a:lnTo>
                  <a:cubicBezTo>
                    <a:pt x="7385050" y="0"/>
                    <a:pt x="7980553" y="595503"/>
                    <a:pt x="7980553" y="1330071"/>
                  </a:cubicBezTo>
                  <a:lnTo>
                    <a:pt x="7980553" y="7199503"/>
                  </a:lnTo>
                  <a:cubicBezTo>
                    <a:pt x="7980553" y="7934072"/>
                    <a:pt x="7385050" y="8529574"/>
                    <a:pt x="6650482" y="8529574"/>
                  </a:cubicBezTo>
                  <a:lnTo>
                    <a:pt x="1330071" y="8529574"/>
                  </a:lnTo>
                  <a:cubicBezTo>
                    <a:pt x="595503" y="8529574"/>
                    <a:pt x="0" y="7934071"/>
                    <a:pt x="0" y="719950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413767" y="2498217"/>
            <a:ext cx="5220891" cy="502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3"/>
              </a:lnSpc>
            </a:pPr>
            <a:r>
              <a:rPr lang="en-US" sz="2386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Strongest June evidence</a:t>
            </a:r>
          </a:p>
          <a:p>
            <a:pPr algn="l">
              <a:lnSpc>
                <a:spcPts val="2683"/>
              </a:lnSpc>
            </a:pPr>
            <a:r>
              <a:rPr lang="en-US" sz="223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AEO/AI visibility learning with AngelFish, followed by internal meetings and AI-friendly content changes.</a:t>
            </a:r>
          </a:p>
          <a:p>
            <a:pPr algn="l">
              <a:lnSpc>
                <a:spcPts val="2683"/>
              </a:lnSpc>
            </a:pPr>
            <a:r>
              <a:rPr lang="en-US" sz="223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Website improvements: CV registration form, job search page SEO wording and salary benchmarking page changes.</a:t>
            </a:r>
          </a:p>
          <a:p>
            <a:pPr algn="l">
              <a:lnSpc>
                <a:spcPts val="2683"/>
              </a:lnSpc>
            </a:pPr>
            <a:r>
              <a:rPr lang="en-US" sz="223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Campaign assets: Equal Pay Day, MHRA testimonials, OSCAR email and consultant LinkedIn post bank.</a:t>
            </a:r>
          </a:p>
          <a:p>
            <a:pPr algn="l">
              <a:lnSpc>
                <a:spcPts val="2683"/>
              </a:lnSpc>
            </a:pPr>
            <a:r>
              <a:rPr lang="en-US" sz="223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OSCAR email to previous participants supported three additional team sign-ups.</a:t>
            </a:r>
          </a:p>
          <a:p>
            <a:pPr algn="l">
              <a:lnSpc>
                <a:spcPts val="2683"/>
              </a:lnSpc>
            </a:pPr>
            <a:r>
              <a:rPr lang="en-US" sz="2236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• Posidonia postcards and Marketing in Maritime webinar reflection strengthened creative and strategic thinking.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432738" y="2120494"/>
            <a:ext cx="4269581" cy="6397228"/>
            <a:chOff x="0" y="0"/>
            <a:chExt cx="5692775" cy="85296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692775" cy="8529574"/>
            </a:xfrm>
            <a:custGeom>
              <a:avLst/>
              <a:gdLst/>
              <a:ahLst/>
              <a:cxnLst/>
              <a:rect l="l" t="t" r="r" b="b"/>
              <a:pathLst>
                <a:path w="5692775" h="8529574">
                  <a:moveTo>
                    <a:pt x="0" y="948817"/>
                  </a:moveTo>
                  <a:cubicBezTo>
                    <a:pt x="0" y="424815"/>
                    <a:pt x="424815" y="0"/>
                    <a:pt x="948817" y="0"/>
                  </a:cubicBezTo>
                  <a:lnTo>
                    <a:pt x="4743958" y="0"/>
                  </a:lnTo>
                  <a:cubicBezTo>
                    <a:pt x="5267960" y="0"/>
                    <a:pt x="5692775" y="424815"/>
                    <a:pt x="5692775" y="948817"/>
                  </a:cubicBezTo>
                  <a:lnTo>
                    <a:pt x="5692775" y="7580757"/>
                  </a:lnTo>
                  <a:cubicBezTo>
                    <a:pt x="5692775" y="8104759"/>
                    <a:pt x="5267960" y="8529574"/>
                    <a:pt x="4743958" y="8529574"/>
                  </a:cubicBezTo>
                  <a:lnTo>
                    <a:pt x="948817" y="8529574"/>
                  </a:lnTo>
                  <a:cubicBezTo>
                    <a:pt x="424815" y="8529574"/>
                    <a:pt x="0" y="8104886"/>
                    <a:pt x="0" y="758075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522245" y="2210000"/>
            <a:ext cx="4090568" cy="5875039"/>
            <a:chOff x="0" y="0"/>
            <a:chExt cx="5454091" cy="7833385"/>
          </a:xfrm>
        </p:grpSpPr>
        <p:sp>
          <p:nvSpPr>
            <p:cNvPr id="17" name="Freeform 17" descr="Evidence_14___Changes_to_Salary_Page_according_to_AEO_report_2_310x440.png"/>
            <p:cNvSpPr/>
            <p:nvPr/>
          </p:nvSpPr>
          <p:spPr>
            <a:xfrm>
              <a:off x="0" y="0"/>
              <a:ext cx="5454142" cy="7833360"/>
            </a:xfrm>
            <a:custGeom>
              <a:avLst/>
              <a:gdLst/>
              <a:ahLst/>
              <a:cxnLst/>
              <a:rect l="l" t="t" r="r" b="b"/>
              <a:pathLst>
                <a:path w="5454142" h="7833360">
                  <a:moveTo>
                    <a:pt x="0" y="0"/>
                  </a:moveTo>
                  <a:lnTo>
                    <a:pt x="5454142" y="0"/>
                  </a:lnTo>
                  <a:lnTo>
                    <a:pt x="5454142" y="7833360"/>
                  </a:lnTo>
                  <a:lnTo>
                    <a:pt x="0" y="783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4" r="-593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7549696" y="8126225"/>
            <a:ext cx="403565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405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Salary page / AEO-related website update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141003" y="2120494"/>
            <a:ext cx="4818650" cy="3651885"/>
            <a:chOff x="0" y="0"/>
            <a:chExt cx="6424866" cy="48691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24803" cy="4869180"/>
            </a:xfrm>
            <a:custGeom>
              <a:avLst/>
              <a:gdLst/>
              <a:ahLst/>
              <a:cxnLst/>
              <a:rect l="l" t="t" r="r" b="b"/>
              <a:pathLst>
                <a:path w="6424803" h="4869180">
                  <a:moveTo>
                    <a:pt x="0" y="811530"/>
                  </a:moveTo>
                  <a:cubicBezTo>
                    <a:pt x="0" y="363347"/>
                    <a:pt x="363347" y="0"/>
                    <a:pt x="811530" y="0"/>
                  </a:cubicBezTo>
                  <a:lnTo>
                    <a:pt x="5613273" y="0"/>
                  </a:lnTo>
                  <a:cubicBezTo>
                    <a:pt x="6061456" y="0"/>
                    <a:pt x="6424803" y="363347"/>
                    <a:pt x="6424803" y="811530"/>
                  </a:cubicBezTo>
                  <a:lnTo>
                    <a:pt x="6424803" y="4057650"/>
                  </a:lnTo>
                  <a:cubicBezTo>
                    <a:pt x="6424803" y="4505833"/>
                    <a:pt x="6061456" y="4869180"/>
                    <a:pt x="5613273" y="4869180"/>
                  </a:cubicBezTo>
                  <a:lnTo>
                    <a:pt x="811530" y="4869180"/>
                  </a:lnTo>
                  <a:cubicBezTo>
                    <a:pt x="363347" y="4869180"/>
                    <a:pt x="0" y="4505833"/>
                    <a:pt x="0" y="405765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2230510" y="2210000"/>
            <a:ext cx="4639637" cy="3129696"/>
            <a:chOff x="0" y="0"/>
            <a:chExt cx="6186183" cy="4172928"/>
          </a:xfrm>
        </p:grpSpPr>
        <p:sp>
          <p:nvSpPr>
            <p:cNvPr id="22" name="Freeform 22" descr="Evidence_15___Posidonia_Postcards_2_350x240.png"/>
            <p:cNvSpPr/>
            <p:nvPr/>
          </p:nvSpPr>
          <p:spPr>
            <a:xfrm>
              <a:off x="0" y="0"/>
              <a:ext cx="6186170" cy="4172966"/>
            </a:xfrm>
            <a:custGeom>
              <a:avLst/>
              <a:gdLst/>
              <a:ahLst/>
              <a:cxnLst/>
              <a:rect l="l" t="t" r="r" b="b"/>
              <a:pathLst>
                <a:path w="6186170" h="4172966">
                  <a:moveTo>
                    <a:pt x="0" y="0"/>
                  </a:moveTo>
                  <a:lnTo>
                    <a:pt x="6186170" y="0"/>
                  </a:lnTo>
                  <a:lnTo>
                    <a:pt x="6186170" y="4172966"/>
                  </a:lnTo>
                  <a:lnTo>
                    <a:pt x="0" y="4172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827" b="-825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2257961" y="5380873"/>
            <a:ext cx="4584725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405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Creative event content: Posidonia postcard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141003" y="6101239"/>
            <a:ext cx="4818650" cy="2416473"/>
            <a:chOff x="0" y="0"/>
            <a:chExt cx="6424866" cy="322196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424803" cy="3221863"/>
            </a:xfrm>
            <a:custGeom>
              <a:avLst/>
              <a:gdLst/>
              <a:ahLst/>
              <a:cxnLst/>
              <a:rect l="l" t="t" r="r" b="b"/>
              <a:pathLst>
                <a:path w="6424803" h="3221863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5887847" y="0"/>
                  </a:lnTo>
                  <a:cubicBezTo>
                    <a:pt x="6184392" y="0"/>
                    <a:pt x="6424803" y="240411"/>
                    <a:pt x="6424803" y="536956"/>
                  </a:cubicBezTo>
                  <a:lnTo>
                    <a:pt x="6424803" y="2684907"/>
                  </a:lnTo>
                  <a:cubicBezTo>
                    <a:pt x="6424803" y="2981452"/>
                    <a:pt x="6184392" y="3221863"/>
                    <a:pt x="5887847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2230510" y="6190755"/>
            <a:ext cx="4639637" cy="1894284"/>
            <a:chOff x="0" y="0"/>
            <a:chExt cx="6186183" cy="2525712"/>
          </a:xfrm>
        </p:grpSpPr>
        <p:sp>
          <p:nvSpPr>
            <p:cNvPr id="27" name="Freeform 27" descr="oscar_card_350x150.png"/>
            <p:cNvSpPr/>
            <p:nvPr/>
          </p:nvSpPr>
          <p:spPr>
            <a:xfrm>
              <a:off x="0" y="0"/>
              <a:ext cx="6186170" cy="2525776"/>
            </a:xfrm>
            <a:custGeom>
              <a:avLst/>
              <a:gdLst/>
              <a:ahLst/>
              <a:cxnLst/>
              <a:rect l="l" t="t" r="r" b="b"/>
              <a:pathLst>
                <a:path w="6186170" h="2525776">
                  <a:moveTo>
                    <a:pt x="0" y="0"/>
                  </a:moveTo>
                  <a:lnTo>
                    <a:pt x="6186170" y="0"/>
                  </a:lnTo>
                  <a:lnTo>
                    <a:pt x="6186170" y="2525776"/>
                  </a:lnTo>
                  <a:lnTo>
                    <a:pt x="0" y="2525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484" b="-2481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12257961" y="8126225"/>
            <a:ext cx="4584725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405">
                <a:solidFill>
                  <a:srgbClr val="626C7D"/>
                </a:solidFill>
                <a:latin typeface="Aptos"/>
                <a:ea typeface="Aptos"/>
                <a:cs typeface="Aptos"/>
                <a:sym typeface="Aptos"/>
              </a:rPr>
              <a:t>OSCAR QR / campaign asset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3774853" y="8812559"/>
            <a:ext cx="10912745" cy="439255"/>
            <a:chOff x="0" y="0"/>
            <a:chExt cx="14550326" cy="58567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550389" cy="585724"/>
            </a:xfrm>
            <a:custGeom>
              <a:avLst/>
              <a:gdLst/>
              <a:ahLst/>
              <a:cxnLst/>
              <a:rect l="l" t="t" r="r" b="b"/>
              <a:pathLst>
                <a:path w="14550389" h="585724">
                  <a:moveTo>
                    <a:pt x="0" y="97663"/>
                  </a:moveTo>
                  <a:cubicBezTo>
                    <a:pt x="0" y="43688"/>
                    <a:pt x="43688" y="0"/>
                    <a:pt x="97663" y="0"/>
                  </a:cubicBezTo>
                  <a:lnTo>
                    <a:pt x="14452727" y="0"/>
                  </a:lnTo>
                  <a:cubicBezTo>
                    <a:pt x="14506575" y="0"/>
                    <a:pt x="14550389" y="43688"/>
                    <a:pt x="14550389" y="97663"/>
                  </a:cubicBezTo>
                  <a:lnTo>
                    <a:pt x="14550389" y="488061"/>
                  </a:lnTo>
                  <a:cubicBezTo>
                    <a:pt x="14550389" y="541909"/>
                    <a:pt x="14506702" y="585724"/>
                    <a:pt x="14452727" y="585724"/>
                  </a:cubicBezTo>
                  <a:lnTo>
                    <a:pt x="97663" y="585724"/>
                  </a:lnTo>
                  <a:cubicBezTo>
                    <a:pt x="43688" y="585724"/>
                    <a:pt x="0" y="541909"/>
                    <a:pt x="0" y="488061"/>
                  </a:cubicBezTo>
                  <a:close/>
                </a:path>
              </a:pathLst>
            </a:custGeom>
            <a:solidFill>
              <a:srgbClr val="083149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3774853" y="8826284"/>
            <a:ext cx="10912745" cy="411802"/>
            <a:chOff x="0" y="0"/>
            <a:chExt cx="14550326" cy="54906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550327" cy="549066"/>
            </a:xfrm>
            <a:custGeom>
              <a:avLst/>
              <a:gdLst/>
              <a:ahLst/>
              <a:cxnLst/>
              <a:rect l="l" t="t" r="r" b="b"/>
              <a:pathLst>
                <a:path w="14550327" h="549066">
                  <a:moveTo>
                    <a:pt x="0" y="0"/>
                  </a:moveTo>
                  <a:lnTo>
                    <a:pt x="14550327" y="0"/>
                  </a:lnTo>
                  <a:lnTo>
                    <a:pt x="14550327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466355" b="-466356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4550326" cy="5490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55"/>
                </a:lnSpc>
              </a:pPr>
              <a:r>
                <a:rPr lang="en-US" sz="1629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June OTJ submitted: 19 hours — strong workplace learning and immediate application.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kbc_clean_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233353"/>
            <a:ext cx="2264912" cy="1052436"/>
            <a:chOff x="0" y="0"/>
            <a:chExt cx="3019882" cy="1403248"/>
          </a:xfrm>
        </p:grpSpPr>
        <p:sp>
          <p:nvSpPr>
            <p:cNvPr id="5" name="Freeform 5" descr="kbc_logo_transparent.png"/>
            <p:cNvSpPr/>
            <p:nvPr/>
          </p:nvSpPr>
          <p:spPr>
            <a:xfrm>
              <a:off x="0" y="0"/>
              <a:ext cx="3019933" cy="1403223"/>
            </a:xfrm>
            <a:custGeom>
              <a:avLst/>
              <a:gdLst/>
              <a:ahLst/>
              <a:cxnLst/>
              <a:rect l="l" t="t" r="r" b="b"/>
              <a:pathLst>
                <a:path w="3019933" h="1403223">
                  <a:moveTo>
                    <a:pt x="0" y="0"/>
                  </a:moveTo>
                  <a:lnTo>
                    <a:pt x="3019933" y="0"/>
                  </a:lnTo>
                  <a:lnTo>
                    <a:pt x="3019933" y="1403223"/>
                  </a:lnTo>
                  <a:lnTo>
                    <a:pt x="0" y="140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42568" y="384353"/>
            <a:ext cx="2127647" cy="359035"/>
            <a:chOff x="0" y="0"/>
            <a:chExt cx="2836862" cy="478714"/>
          </a:xfrm>
        </p:grpSpPr>
        <p:sp>
          <p:nvSpPr>
            <p:cNvPr id="7" name="Freeform 7" descr="spinnaker_logo_transparent.png"/>
            <p:cNvSpPr/>
            <p:nvPr/>
          </p:nvSpPr>
          <p:spPr>
            <a:xfrm>
              <a:off x="0" y="0"/>
              <a:ext cx="2836799" cy="478663"/>
            </a:xfrm>
            <a:custGeom>
              <a:avLst/>
              <a:gdLst/>
              <a:ahLst/>
              <a:cxnLst/>
              <a:rect l="l" t="t" r="r" b="b"/>
              <a:pathLst>
                <a:path w="2836799" h="478663">
                  <a:moveTo>
                    <a:pt x="0" y="0"/>
                  </a:moveTo>
                  <a:lnTo>
                    <a:pt x="2836799" y="0"/>
                  </a:lnTo>
                  <a:lnTo>
                    <a:pt x="2836799" y="478663"/>
                  </a:lnTo>
                  <a:lnTo>
                    <a:pt x="0" y="47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46411" y="9855003"/>
            <a:ext cx="16563727" cy="202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>
                <a:solidFill>
                  <a:srgbClr val="626C7D"/>
                </a:solidFill>
                <a:latin typeface="Calibri (MS)"/>
                <a:ea typeface="Calibri (MS)"/>
                <a:cs typeface="Calibri (MS)"/>
                <a:sym typeface="Calibri (MS)"/>
              </a:rPr>
              <a:t>Marketing Executive Level 4 Apprenticeship | Progress Review | Bethanie-Taylor Grenfell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83862" y="741578"/>
            <a:ext cx="11965267" cy="47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Workplace Application &amp; Impact at Spinnaker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11322" y="1400461"/>
            <a:ext cx="118280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60696C"/>
                </a:solidFill>
                <a:latin typeface="Aptos"/>
                <a:ea typeface="Aptos"/>
                <a:cs typeface="Aptos"/>
                <a:sym typeface="Aptos"/>
              </a:rPr>
              <a:t>Bethanie’s work is adding value in a niche, relationship-led maritime recruitment and HR market.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90984" y="2395023"/>
            <a:ext cx="7495365" cy="2141944"/>
            <a:chOff x="0" y="0"/>
            <a:chExt cx="9993820" cy="28559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993757" cy="2855976"/>
            </a:xfrm>
            <a:custGeom>
              <a:avLst/>
              <a:gdLst/>
              <a:ahLst/>
              <a:cxnLst/>
              <a:rect l="l" t="t" r="r" b="b"/>
              <a:pathLst>
                <a:path w="9993757" h="2855976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9517761" y="0"/>
                  </a:lnTo>
                  <a:cubicBezTo>
                    <a:pt x="9780651" y="0"/>
                    <a:pt x="9993757" y="213106"/>
                    <a:pt x="9993757" y="475996"/>
                  </a:cubicBezTo>
                  <a:lnTo>
                    <a:pt x="9993757" y="2379980"/>
                  </a:lnTo>
                  <a:cubicBezTo>
                    <a:pt x="9993757" y="2642870"/>
                    <a:pt x="9780651" y="2855976"/>
                    <a:pt x="9517761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372676" y="2649255"/>
            <a:ext cx="2402176" cy="384353"/>
            <a:chOff x="0" y="0"/>
            <a:chExt cx="3202902" cy="51247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02940" cy="512572"/>
            </a:xfrm>
            <a:custGeom>
              <a:avLst/>
              <a:gdLst/>
              <a:ahLst/>
              <a:cxnLst/>
              <a:rect l="l" t="t" r="r" b="b"/>
              <a:pathLst>
                <a:path w="3202940" h="512572">
                  <a:moveTo>
                    <a:pt x="0" y="85471"/>
                  </a:moveTo>
                  <a:cubicBezTo>
                    <a:pt x="0" y="38227"/>
                    <a:pt x="38227" y="0"/>
                    <a:pt x="85471" y="0"/>
                  </a:cubicBezTo>
                  <a:lnTo>
                    <a:pt x="3117469" y="0"/>
                  </a:lnTo>
                  <a:cubicBezTo>
                    <a:pt x="3164586" y="0"/>
                    <a:pt x="3202940" y="38227"/>
                    <a:pt x="3202940" y="85471"/>
                  </a:cubicBezTo>
                  <a:lnTo>
                    <a:pt x="3202940" y="427101"/>
                  </a:lnTo>
                  <a:cubicBezTo>
                    <a:pt x="3202940" y="474218"/>
                    <a:pt x="3164713" y="512572"/>
                    <a:pt x="3117469" y="512572"/>
                  </a:cubicBezTo>
                  <a:lnTo>
                    <a:pt x="85471" y="512572"/>
                  </a:lnTo>
                  <a:cubicBezTo>
                    <a:pt x="38227" y="512445"/>
                    <a:pt x="0" y="474218"/>
                    <a:pt x="0" y="427101"/>
                  </a:cubicBezTo>
                  <a:close/>
                </a:path>
              </a:pathLst>
            </a:custGeom>
            <a:solidFill>
              <a:srgbClr val="0096A5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372676" y="2662980"/>
            <a:ext cx="2402176" cy="356895"/>
            <a:chOff x="0" y="0"/>
            <a:chExt cx="3202902" cy="4758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02902" cy="475863"/>
            </a:xfrm>
            <a:custGeom>
              <a:avLst/>
              <a:gdLst/>
              <a:ahLst/>
              <a:cxnLst/>
              <a:rect l="l" t="t" r="r" b="b"/>
              <a:pathLst>
                <a:path w="3202902" h="475863">
                  <a:moveTo>
                    <a:pt x="0" y="0"/>
                  </a:moveTo>
                  <a:lnTo>
                    <a:pt x="3202902" y="0"/>
                  </a:lnTo>
                  <a:lnTo>
                    <a:pt x="3202902" y="475863"/>
                  </a:lnTo>
                  <a:lnTo>
                    <a:pt x="0" y="4758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1149" b="-8114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3202902" cy="4758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1"/>
                </a:lnSpc>
              </a:pPr>
              <a:r>
                <a:rPr lang="en-US" sz="172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Brand visibility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41304" y="3225784"/>
            <a:ext cx="679472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87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LinkedIn growth, 30 Under 30 and conference content strengthened Spinnaker’s authority in maritime people management.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327023" y="2395023"/>
            <a:ext cx="7495365" cy="2141944"/>
            <a:chOff x="0" y="0"/>
            <a:chExt cx="9993820" cy="285592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993757" cy="2855976"/>
            </a:xfrm>
            <a:custGeom>
              <a:avLst/>
              <a:gdLst/>
              <a:ahLst/>
              <a:cxnLst/>
              <a:rect l="l" t="t" r="r" b="b"/>
              <a:pathLst>
                <a:path w="9993757" h="2855976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9517761" y="0"/>
                  </a:lnTo>
                  <a:cubicBezTo>
                    <a:pt x="9780651" y="0"/>
                    <a:pt x="9993757" y="213106"/>
                    <a:pt x="9993757" y="475996"/>
                  </a:cubicBezTo>
                  <a:lnTo>
                    <a:pt x="9993757" y="2379980"/>
                  </a:lnTo>
                  <a:cubicBezTo>
                    <a:pt x="9993757" y="2642870"/>
                    <a:pt x="9780651" y="2855976"/>
                    <a:pt x="9517761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9608706" y="2649255"/>
            <a:ext cx="2402176" cy="384353"/>
            <a:chOff x="0" y="0"/>
            <a:chExt cx="3202902" cy="51247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202940" cy="512572"/>
            </a:xfrm>
            <a:custGeom>
              <a:avLst/>
              <a:gdLst/>
              <a:ahLst/>
              <a:cxnLst/>
              <a:rect l="l" t="t" r="r" b="b"/>
              <a:pathLst>
                <a:path w="3202940" h="512572">
                  <a:moveTo>
                    <a:pt x="0" y="85471"/>
                  </a:moveTo>
                  <a:cubicBezTo>
                    <a:pt x="0" y="38227"/>
                    <a:pt x="38227" y="0"/>
                    <a:pt x="85471" y="0"/>
                  </a:cubicBezTo>
                  <a:lnTo>
                    <a:pt x="3117469" y="0"/>
                  </a:lnTo>
                  <a:cubicBezTo>
                    <a:pt x="3164586" y="0"/>
                    <a:pt x="3202940" y="38227"/>
                    <a:pt x="3202940" y="85471"/>
                  </a:cubicBezTo>
                  <a:lnTo>
                    <a:pt x="3202940" y="427101"/>
                  </a:lnTo>
                  <a:cubicBezTo>
                    <a:pt x="3202940" y="474218"/>
                    <a:pt x="3164713" y="512572"/>
                    <a:pt x="3117469" y="512572"/>
                  </a:cubicBezTo>
                  <a:lnTo>
                    <a:pt x="85471" y="512572"/>
                  </a:lnTo>
                  <a:cubicBezTo>
                    <a:pt x="38227" y="512445"/>
                    <a:pt x="0" y="474218"/>
                    <a:pt x="0" y="427101"/>
                  </a:cubicBezTo>
                  <a:close/>
                </a:path>
              </a:pathLst>
            </a:custGeom>
            <a:solidFill>
              <a:srgbClr val="EF6925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9608706" y="2662980"/>
            <a:ext cx="2402176" cy="356895"/>
            <a:chOff x="0" y="0"/>
            <a:chExt cx="3202902" cy="4758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202902" cy="475863"/>
            </a:xfrm>
            <a:custGeom>
              <a:avLst/>
              <a:gdLst/>
              <a:ahLst/>
              <a:cxnLst/>
              <a:rect l="l" t="t" r="r" b="b"/>
              <a:pathLst>
                <a:path w="3202902" h="475863">
                  <a:moveTo>
                    <a:pt x="0" y="0"/>
                  </a:moveTo>
                  <a:lnTo>
                    <a:pt x="3202902" y="0"/>
                  </a:lnTo>
                  <a:lnTo>
                    <a:pt x="3202902" y="475863"/>
                  </a:lnTo>
                  <a:lnTo>
                    <a:pt x="0" y="4758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1149" b="-8114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3202902" cy="4758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1"/>
                </a:lnSpc>
              </a:pPr>
              <a:r>
                <a:rPr lang="en-US" sz="172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Lead generation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677343" y="3225784"/>
            <a:ext cx="6794725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87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MHRA brochure downloads, email campaigns and OSCAR sign-up activity created clearer commercial pathways.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90984" y="5209003"/>
            <a:ext cx="7495365" cy="2141944"/>
            <a:chOff x="0" y="0"/>
            <a:chExt cx="9993820" cy="285592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993757" cy="2855976"/>
            </a:xfrm>
            <a:custGeom>
              <a:avLst/>
              <a:gdLst/>
              <a:ahLst/>
              <a:cxnLst/>
              <a:rect l="l" t="t" r="r" b="b"/>
              <a:pathLst>
                <a:path w="9993757" h="2855976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9517761" y="0"/>
                  </a:lnTo>
                  <a:cubicBezTo>
                    <a:pt x="9780651" y="0"/>
                    <a:pt x="9993757" y="213106"/>
                    <a:pt x="9993757" y="475996"/>
                  </a:cubicBezTo>
                  <a:lnTo>
                    <a:pt x="9993757" y="2379980"/>
                  </a:lnTo>
                  <a:cubicBezTo>
                    <a:pt x="9993757" y="2642870"/>
                    <a:pt x="9780651" y="2855976"/>
                    <a:pt x="9517761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372676" y="5463235"/>
            <a:ext cx="2402176" cy="384353"/>
            <a:chOff x="0" y="0"/>
            <a:chExt cx="3202902" cy="51247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202940" cy="512572"/>
            </a:xfrm>
            <a:custGeom>
              <a:avLst/>
              <a:gdLst/>
              <a:ahLst/>
              <a:cxnLst/>
              <a:rect l="l" t="t" r="r" b="b"/>
              <a:pathLst>
                <a:path w="3202940" h="512572">
                  <a:moveTo>
                    <a:pt x="0" y="85471"/>
                  </a:moveTo>
                  <a:cubicBezTo>
                    <a:pt x="0" y="38227"/>
                    <a:pt x="38227" y="0"/>
                    <a:pt x="85471" y="0"/>
                  </a:cubicBezTo>
                  <a:lnTo>
                    <a:pt x="3117469" y="0"/>
                  </a:lnTo>
                  <a:cubicBezTo>
                    <a:pt x="3164586" y="0"/>
                    <a:pt x="3202940" y="38227"/>
                    <a:pt x="3202940" y="85471"/>
                  </a:cubicBezTo>
                  <a:lnTo>
                    <a:pt x="3202940" y="427101"/>
                  </a:lnTo>
                  <a:cubicBezTo>
                    <a:pt x="3202940" y="474218"/>
                    <a:pt x="3164713" y="512572"/>
                    <a:pt x="3117469" y="512572"/>
                  </a:cubicBezTo>
                  <a:lnTo>
                    <a:pt x="85471" y="512572"/>
                  </a:lnTo>
                  <a:cubicBezTo>
                    <a:pt x="38227" y="512445"/>
                    <a:pt x="0" y="474218"/>
                    <a:pt x="0" y="427101"/>
                  </a:cubicBezTo>
                  <a:close/>
                </a:path>
              </a:pathLst>
            </a:custGeom>
            <a:solidFill>
              <a:srgbClr val="5D49D8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372676" y="5476961"/>
            <a:ext cx="2402176" cy="356895"/>
            <a:chOff x="0" y="0"/>
            <a:chExt cx="3202902" cy="4758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202902" cy="475863"/>
            </a:xfrm>
            <a:custGeom>
              <a:avLst/>
              <a:gdLst/>
              <a:ahLst/>
              <a:cxnLst/>
              <a:rect l="l" t="t" r="r" b="b"/>
              <a:pathLst>
                <a:path w="3202902" h="475863">
                  <a:moveTo>
                    <a:pt x="0" y="0"/>
                  </a:moveTo>
                  <a:lnTo>
                    <a:pt x="3202902" y="0"/>
                  </a:lnTo>
                  <a:lnTo>
                    <a:pt x="3202902" y="475863"/>
                  </a:lnTo>
                  <a:lnTo>
                    <a:pt x="0" y="4758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1149" b="-81147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3202902" cy="4758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1"/>
                </a:lnSpc>
              </a:pPr>
              <a:r>
                <a:rPr lang="en-US" sz="172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Operational efficiency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441304" y="6039755"/>
            <a:ext cx="6794725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87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Candidate bulletin guidelines, CV form changes and consultant post banks reduce friction and improve consistency.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327023" y="5209003"/>
            <a:ext cx="7495365" cy="2141944"/>
            <a:chOff x="0" y="0"/>
            <a:chExt cx="9993820" cy="285592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993757" cy="2855976"/>
            </a:xfrm>
            <a:custGeom>
              <a:avLst/>
              <a:gdLst/>
              <a:ahLst/>
              <a:cxnLst/>
              <a:rect l="l" t="t" r="r" b="b"/>
              <a:pathLst>
                <a:path w="9993757" h="2855976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9517761" y="0"/>
                  </a:lnTo>
                  <a:cubicBezTo>
                    <a:pt x="9780651" y="0"/>
                    <a:pt x="9993757" y="213106"/>
                    <a:pt x="9993757" y="475996"/>
                  </a:cubicBezTo>
                  <a:lnTo>
                    <a:pt x="9993757" y="2379980"/>
                  </a:lnTo>
                  <a:cubicBezTo>
                    <a:pt x="9993757" y="2642870"/>
                    <a:pt x="9780651" y="2855976"/>
                    <a:pt x="9517761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9608706" y="5463235"/>
            <a:ext cx="2402176" cy="384353"/>
            <a:chOff x="0" y="0"/>
            <a:chExt cx="3202902" cy="51247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202940" cy="512572"/>
            </a:xfrm>
            <a:custGeom>
              <a:avLst/>
              <a:gdLst/>
              <a:ahLst/>
              <a:cxnLst/>
              <a:rect l="l" t="t" r="r" b="b"/>
              <a:pathLst>
                <a:path w="3202940" h="512572">
                  <a:moveTo>
                    <a:pt x="0" y="85471"/>
                  </a:moveTo>
                  <a:cubicBezTo>
                    <a:pt x="0" y="38227"/>
                    <a:pt x="38227" y="0"/>
                    <a:pt x="85471" y="0"/>
                  </a:cubicBezTo>
                  <a:lnTo>
                    <a:pt x="3117469" y="0"/>
                  </a:lnTo>
                  <a:cubicBezTo>
                    <a:pt x="3164586" y="0"/>
                    <a:pt x="3202940" y="38227"/>
                    <a:pt x="3202940" y="85471"/>
                  </a:cubicBezTo>
                  <a:lnTo>
                    <a:pt x="3202940" y="427101"/>
                  </a:lnTo>
                  <a:cubicBezTo>
                    <a:pt x="3202940" y="474218"/>
                    <a:pt x="3164713" y="512572"/>
                    <a:pt x="3117469" y="512572"/>
                  </a:cubicBezTo>
                  <a:lnTo>
                    <a:pt x="85471" y="512572"/>
                  </a:lnTo>
                  <a:cubicBezTo>
                    <a:pt x="38227" y="512445"/>
                    <a:pt x="0" y="474218"/>
                    <a:pt x="0" y="427101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9608706" y="5476961"/>
            <a:ext cx="2402176" cy="356895"/>
            <a:chOff x="0" y="0"/>
            <a:chExt cx="3202902" cy="47586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202902" cy="475863"/>
            </a:xfrm>
            <a:custGeom>
              <a:avLst/>
              <a:gdLst/>
              <a:ahLst/>
              <a:cxnLst/>
              <a:rect l="l" t="t" r="r" b="b"/>
              <a:pathLst>
                <a:path w="3202902" h="475863">
                  <a:moveTo>
                    <a:pt x="0" y="0"/>
                  </a:moveTo>
                  <a:lnTo>
                    <a:pt x="3202902" y="0"/>
                  </a:lnTo>
                  <a:lnTo>
                    <a:pt x="3202902" y="475863"/>
                  </a:lnTo>
                  <a:lnTo>
                    <a:pt x="0" y="4758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1149" b="-81147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3202902" cy="4758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1"/>
                </a:lnSpc>
              </a:pPr>
              <a:r>
                <a:rPr lang="en-US" sz="172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Strategic learning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9677343" y="6039755"/>
            <a:ext cx="6794725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87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AEO/SEO activity shows adaptability to changing search behaviour and future-proofs digital visibility.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kbc_clean_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233353"/>
            <a:ext cx="2264912" cy="1052436"/>
            <a:chOff x="0" y="0"/>
            <a:chExt cx="3019882" cy="1403248"/>
          </a:xfrm>
        </p:grpSpPr>
        <p:sp>
          <p:nvSpPr>
            <p:cNvPr id="5" name="Freeform 5" descr="kbc_logo_transparent.png"/>
            <p:cNvSpPr/>
            <p:nvPr/>
          </p:nvSpPr>
          <p:spPr>
            <a:xfrm>
              <a:off x="0" y="0"/>
              <a:ext cx="3019933" cy="1403223"/>
            </a:xfrm>
            <a:custGeom>
              <a:avLst/>
              <a:gdLst/>
              <a:ahLst/>
              <a:cxnLst/>
              <a:rect l="l" t="t" r="r" b="b"/>
              <a:pathLst>
                <a:path w="3019933" h="1403223">
                  <a:moveTo>
                    <a:pt x="0" y="0"/>
                  </a:moveTo>
                  <a:lnTo>
                    <a:pt x="3019933" y="0"/>
                  </a:lnTo>
                  <a:lnTo>
                    <a:pt x="3019933" y="1403223"/>
                  </a:lnTo>
                  <a:lnTo>
                    <a:pt x="0" y="140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42568" y="384353"/>
            <a:ext cx="2127647" cy="359035"/>
            <a:chOff x="0" y="0"/>
            <a:chExt cx="2836862" cy="478714"/>
          </a:xfrm>
        </p:grpSpPr>
        <p:sp>
          <p:nvSpPr>
            <p:cNvPr id="7" name="Freeform 7" descr="spinnaker_logo_transparent.png"/>
            <p:cNvSpPr/>
            <p:nvPr/>
          </p:nvSpPr>
          <p:spPr>
            <a:xfrm>
              <a:off x="0" y="0"/>
              <a:ext cx="2836799" cy="478663"/>
            </a:xfrm>
            <a:custGeom>
              <a:avLst/>
              <a:gdLst/>
              <a:ahLst/>
              <a:cxnLst/>
              <a:rect l="l" t="t" r="r" b="b"/>
              <a:pathLst>
                <a:path w="2836799" h="478663">
                  <a:moveTo>
                    <a:pt x="0" y="0"/>
                  </a:moveTo>
                  <a:lnTo>
                    <a:pt x="2836799" y="0"/>
                  </a:lnTo>
                  <a:lnTo>
                    <a:pt x="2836799" y="478663"/>
                  </a:lnTo>
                  <a:lnTo>
                    <a:pt x="0" y="47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46411" y="9855003"/>
            <a:ext cx="16563727" cy="202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>
                <a:solidFill>
                  <a:srgbClr val="626C7D"/>
                </a:solidFill>
                <a:latin typeface="Calibri (MS)"/>
                <a:ea typeface="Calibri (MS)"/>
                <a:cs typeface="Calibri (MS)"/>
                <a:sym typeface="Calibri (MS)"/>
              </a:rPr>
              <a:t>Marketing Executive Level 4 Apprenticeship | Progress Review | Bethanie-Taylor Grenfell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83862" y="741578"/>
            <a:ext cx="11965267" cy="47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KSBs Evidenced: Knowledge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11322" y="1390936"/>
            <a:ext cx="1182800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729">
                <a:solidFill>
                  <a:srgbClr val="60696C"/>
                </a:solidFill>
                <a:latin typeface="Aptos"/>
                <a:ea typeface="Aptos"/>
                <a:cs typeface="Aptos"/>
                <a:sym typeface="Aptos"/>
              </a:rPr>
              <a:t>Full standard wording shown for the Knowledge areas evidenced through assignments and workplace activity.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235405" y="2127642"/>
          <a:ext cx="15842927" cy="6672710"/>
        </p:xfrm>
        <a:graphic>
          <a:graphicData uri="http://schemas.openxmlformats.org/drawingml/2006/table">
            <a:tbl>
              <a:tblPr/>
              <a:tblGrid>
                <a:gridCol w="1440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2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7271">
                <a:tc>
                  <a:txBody>
                    <a:bodyPr/>
                    <a:lstStyle/>
                    <a:p>
                      <a:pPr algn="ctr">
                        <a:lnSpc>
                          <a:spcPts val="2015"/>
                        </a:lnSpc>
                        <a:defRPr/>
                      </a:pPr>
                      <a:r>
                        <a:rPr lang="en-US" sz="1679" b="1">
                          <a:solidFill>
                            <a:srgbClr val="083149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Code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5"/>
                        </a:lnSpc>
                        <a:defRPr/>
                      </a:pPr>
                      <a:r>
                        <a:rPr lang="en-US" sz="1679" b="1">
                          <a:solidFill>
                            <a:srgbClr val="083149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Knowledge evidenced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271"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  <a:defRPr/>
                      </a:pPr>
                      <a:r>
                        <a:rPr lang="en-US" sz="1679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K1.1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  <a:defRPr/>
                      </a:pPr>
                      <a:r>
                        <a:rPr lang="en-US" sz="1679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The fundamentals of marketing theory (e.g. 7Ps, product development, segmentation)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271"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  <a:defRPr/>
                      </a:pPr>
                      <a:r>
                        <a:rPr lang="en-US" sz="1679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K1.2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  <a:defRPr/>
                      </a:pPr>
                      <a:r>
                        <a:rPr lang="en-US" sz="1679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Brand positioning, brand management, and corporate reputation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271"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  <a:defRPr/>
                      </a:pPr>
                      <a:r>
                        <a:rPr lang="en-US" sz="1679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K1.3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  <a:defRPr/>
                      </a:pPr>
                      <a:r>
                        <a:rPr lang="en-US" sz="1679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Stakeholder and customer relationship management (CRM), internal and external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271"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  <a:defRPr/>
                      </a:pPr>
                      <a:r>
                        <a:rPr lang="en-US" sz="1679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K2.1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  <a:defRPr/>
                      </a:pPr>
                      <a:r>
                        <a:rPr lang="en-US" sz="1679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Business and sector characteristics, vision, and values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271"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  <a:defRPr/>
                      </a:pPr>
                      <a:r>
                        <a:rPr lang="en-US" sz="1679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K2.2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  <a:defRPr/>
                      </a:pPr>
                      <a:r>
                        <a:rPr lang="en-US" sz="1679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Marketing's contribution to business objectives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7271"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  <a:defRPr/>
                      </a:pPr>
                      <a:r>
                        <a:rPr lang="en-US" sz="1679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K2.3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  <a:defRPr/>
                      </a:pPr>
                      <a:r>
                        <a:rPr lang="en-US" sz="1679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Customer decision-making process and marketing influence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7271"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  <a:defRPr/>
                      </a:pPr>
                      <a:r>
                        <a:rPr lang="en-US" sz="1679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K2.4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  <a:defRPr/>
                      </a:pPr>
                      <a:r>
                        <a:rPr lang="en-US" sz="1679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Legal, regulatory, and compliance frameworks (e.g. Data Protection)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7271"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  <a:defRPr/>
                      </a:pPr>
                      <a:r>
                        <a:rPr lang="en-US" sz="1679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K3.1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  <a:defRPr/>
                      </a:pPr>
                      <a:r>
                        <a:rPr lang="en-US" sz="1679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Principles of effective market research, sources, methodologies, and use (quantitative/qualitative)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67271"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  <a:defRPr/>
                      </a:pPr>
                      <a:r>
                        <a:rPr lang="en-US" sz="1679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K4.3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  <a:defRPr/>
                      </a:pPr>
                      <a:r>
                        <a:rPr lang="en-US" sz="1679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Features and benefits of communication channels (digital and offline)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4425" y="-8039"/>
            <a:ext cx="18301840" cy="10295039"/>
            <a:chOff x="0" y="0"/>
            <a:chExt cx="24402453" cy="13726719"/>
          </a:xfrm>
        </p:grpSpPr>
        <p:sp>
          <p:nvSpPr>
            <p:cNvPr id="3" name="Freeform 3" descr="kbc_clean_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233353"/>
            <a:ext cx="2264912" cy="1052436"/>
            <a:chOff x="0" y="0"/>
            <a:chExt cx="3019882" cy="1403248"/>
          </a:xfrm>
        </p:grpSpPr>
        <p:sp>
          <p:nvSpPr>
            <p:cNvPr id="5" name="Freeform 5" descr="kbc_logo_transparent.png"/>
            <p:cNvSpPr/>
            <p:nvPr/>
          </p:nvSpPr>
          <p:spPr>
            <a:xfrm>
              <a:off x="0" y="0"/>
              <a:ext cx="3019933" cy="1403223"/>
            </a:xfrm>
            <a:custGeom>
              <a:avLst/>
              <a:gdLst/>
              <a:ahLst/>
              <a:cxnLst/>
              <a:rect l="l" t="t" r="r" b="b"/>
              <a:pathLst>
                <a:path w="3019933" h="1403223">
                  <a:moveTo>
                    <a:pt x="0" y="0"/>
                  </a:moveTo>
                  <a:lnTo>
                    <a:pt x="3019933" y="0"/>
                  </a:lnTo>
                  <a:lnTo>
                    <a:pt x="3019933" y="1403223"/>
                  </a:lnTo>
                  <a:lnTo>
                    <a:pt x="0" y="140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42568" y="384353"/>
            <a:ext cx="2127647" cy="359035"/>
            <a:chOff x="0" y="0"/>
            <a:chExt cx="2836862" cy="478714"/>
          </a:xfrm>
        </p:grpSpPr>
        <p:sp>
          <p:nvSpPr>
            <p:cNvPr id="7" name="Freeform 7" descr="spinnaker_logo_transparent.png"/>
            <p:cNvSpPr/>
            <p:nvPr/>
          </p:nvSpPr>
          <p:spPr>
            <a:xfrm>
              <a:off x="0" y="0"/>
              <a:ext cx="2836799" cy="478663"/>
            </a:xfrm>
            <a:custGeom>
              <a:avLst/>
              <a:gdLst/>
              <a:ahLst/>
              <a:cxnLst/>
              <a:rect l="l" t="t" r="r" b="b"/>
              <a:pathLst>
                <a:path w="2836799" h="478663">
                  <a:moveTo>
                    <a:pt x="0" y="0"/>
                  </a:moveTo>
                  <a:lnTo>
                    <a:pt x="2836799" y="0"/>
                  </a:lnTo>
                  <a:lnTo>
                    <a:pt x="2836799" y="478663"/>
                  </a:lnTo>
                  <a:lnTo>
                    <a:pt x="0" y="47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46411" y="9855003"/>
            <a:ext cx="16563727" cy="202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>
                <a:solidFill>
                  <a:srgbClr val="626C7D"/>
                </a:solidFill>
                <a:latin typeface="Calibri (MS)"/>
                <a:ea typeface="Calibri (MS)"/>
                <a:cs typeface="Calibri (MS)"/>
                <a:sym typeface="Calibri (MS)"/>
              </a:rPr>
              <a:t>Marketing Executive Level 4 Apprenticeship | Progress Review | Bethanie-Taylor Grenfell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83862" y="741578"/>
            <a:ext cx="11965267" cy="47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KSBs Evidenced: Skills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11322" y="1390936"/>
            <a:ext cx="11828002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5"/>
              </a:lnSpc>
            </a:pPr>
            <a:r>
              <a:rPr lang="en-US" sz="1629">
                <a:solidFill>
                  <a:srgbClr val="60696C"/>
                </a:solidFill>
                <a:latin typeface="Aptos"/>
                <a:ea typeface="Aptos"/>
                <a:cs typeface="Aptos"/>
                <a:sym typeface="Aptos"/>
              </a:rPr>
              <a:t>Skill evidence is strongest where Bethanie has planned, created, coordinated, analysed and improved live workplace activity.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029504" y="2086462"/>
          <a:ext cx="8159775" cy="6939620"/>
        </p:xfrm>
        <a:graphic>
          <a:graphicData uri="http://schemas.openxmlformats.org/drawingml/2006/table">
            <a:tbl>
              <a:tblPr/>
              <a:tblGrid>
                <a:gridCol w="1028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1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1374">
                <a:tc>
                  <a:txBody>
                    <a:bodyPr/>
                    <a:lstStyle/>
                    <a:p>
                      <a:pPr algn="ctr">
                        <a:lnSpc>
                          <a:spcPts val="2029"/>
                        </a:lnSpc>
                        <a:defRPr/>
                      </a:pPr>
                      <a:r>
                        <a:rPr lang="en-US" sz="1691" b="1">
                          <a:solidFill>
                            <a:srgbClr val="083149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Code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29"/>
                        </a:lnSpc>
                        <a:defRPr/>
                      </a:pPr>
                      <a:r>
                        <a:rPr lang="en-US" sz="1691" b="1">
                          <a:solidFill>
                            <a:srgbClr val="083149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Skills evidenced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1374"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S1.1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Coordinate marketing channels (digital/offline)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1374"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S1.2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Plan/deliver tactical campaigns using SMART objectives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1374"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S1.3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Manage production/distribution of materials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1374"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S2.1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Create clear and effective communications, presentations, briefs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1374"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S2.2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Collaborate with internal and external stakeholders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91376"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S3.1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Use time and project management effectively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9402806" y="2086462"/>
          <a:ext cx="7892866" cy="6939620"/>
        </p:xfrm>
        <a:graphic>
          <a:graphicData uri="http://schemas.openxmlformats.org/drawingml/2006/table">
            <a:tbl>
              <a:tblPr/>
              <a:tblGrid>
                <a:gridCol w="1029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3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1374">
                <a:tc>
                  <a:txBody>
                    <a:bodyPr/>
                    <a:lstStyle/>
                    <a:p>
                      <a:pPr algn="ctr">
                        <a:lnSpc>
                          <a:spcPts val="2029"/>
                        </a:lnSpc>
                        <a:defRPr/>
                      </a:pPr>
                      <a:r>
                        <a:rPr lang="en-US" sz="1691" b="1">
                          <a:solidFill>
                            <a:srgbClr val="083149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Code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29"/>
                        </a:lnSpc>
                        <a:defRPr/>
                      </a:pPr>
                      <a:r>
                        <a:rPr lang="en-US" sz="1691" b="1">
                          <a:solidFill>
                            <a:srgbClr val="083149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Skills evidenced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1374"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S3.2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Coordinate campaigns/projects to deadlines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1374"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S5.1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Evaluate campaign effectiveness using digital/offline data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1374"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S5.2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Analyse information from various sources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1374"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S5.3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Derive insights to improve future campaigns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1374"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S6.1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Use business systems/software to deliver marketing outcomes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91376"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S6.2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29"/>
                        </a:lnSpc>
                        <a:defRPr/>
                      </a:pPr>
                      <a:r>
                        <a:rPr lang="en-US" sz="169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Use technologies (e.g. analytics, social media, CRM)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646" y="0"/>
            <a:ext cx="18301840" cy="10295039"/>
            <a:chOff x="0" y="0"/>
            <a:chExt cx="24402453" cy="13726719"/>
          </a:xfrm>
        </p:grpSpPr>
        <p:sp>
          <p:nvSpPr>
            <p:cNvPr id="3" name="Freeform 3" descr="kbc_clean_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233353"/>
            <a:ext cx="2264912" cy="1052436"/>
            <a:chOff x="0" y="0"/>
            <a:chExt cx="3019882" cy="1403248"/>
          </a:xfrm>
        </p:grpSpPr>
        <p:sp>
          <p:nvSpPr>
            <p:cNvPr id="5" name="Freeform 5" descr="kbc_logo_transparent.png"/>
            <p:cNvSpPr/>
            <p:nvPr/>
          </p:nvSpPr>
          <p:spPr>
            <a:xfrm>
              <a:off x="0" y="0"/>
              <a:ext cx="3019933" cy="1403223"/>
            </a:xfrm>
            <a:custGeom>
              <a:avLst/>
              <a:gdLst/>
              <a:ahLst/>
              <a:cxnLst/>
              <a:rect l="l" t="t" r="r" b="b"/>
              <a:pathLst>
                <a:path w="3019933" h="1403223">
                  <a:moveTo>
                    <a:pt x="0" y="0"/>
                  </a:moveTo>
                  <a:lnTo>
                    <a:pt x="3019933" y="0"/>
                  </a:lnTo>
                  <a:lnTo>
                    <a:pt x="3019933" y="1403223"/>
                  </a:lnTo>
                  <a:lnTo>
                    <a:pt x="0" y="140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42568" y="384353"/>
            <a:ext cx="2127647" cy="359035"/>
            <a:chOff x="0" y="0"/>
            <a:chExt cx="2836862" cy="478714"/>
          </a:xfrm>
        </p:grpSpPr>
        <p:sp>
          <p:nvSpPr>
            <p:cNvPr id="7" name="Freeform 7" descr="spinnaker_logo_transparent.png"/>
            <p:cNvSpPr/>
            <p:nvPr/>
          </p:nvSpPr>
          <p:spPr>
            <a:xfrm>
              <a:off x="0" y="0"/>
              <a:ext cx="2836799" cy="478663"/>
            </a:xfrm>
            <a:custGeom>
              <a:avLst/>
              <a:gdLst/>
              <a:ahLst/>
              <a:cxnLst/>
              <a:rect l="l" t="t" r="r" b="b"/>
              <a:pathLst>
                <a:path w="2836799" h="478663">
                  <a:moveTo>
                    <a:pt x="0" y="0"/>
                  </a:moveTo>
                  <a:lnTo>
                    <a:pt x="2836799" y="0"/>
                  </a:lnTo>
                  <a:lnTo>
                    <a:pt x="2836799" y="478663"/>
                  </a:lnTo>
                  <a:lnTo>
                    <a:pt x="0" y="47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46411" y="9855003"/>
            <a:ext cx="16563727" cy="202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>
                <a:solidFill>
                  <a:srgbClr val="626C7D"/>
                </a:solidFill>
                <a:latin typeface="Calibri (MS)"/>
                <a:ea typeface="Calibri (MS)"/>
                <a:cs typeface="Calibri (MS)"/>
                <a:sym typeface="Calibri (MS)"/>
              </a:rPr>
              <a:t>Marketing Executive Level 4 Apprenticeship | Progress Review | Bethanie-Taylor Grenfell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83862" y="741578"/>
            <a:ext cx="11965267" cy="47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KSBs Evidenced: Behaviours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11322" y="1390936"/>
            <a:ext cx="1182800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5"/>
              </a:lnSpc>
            </a:pPr>
            <a:r>
              <a:rPr lang="en-US" sz="1929">
                <a:solidFill>
                  <a:srgbClr val="60696C"/>
                </a:solidFill>
                <a:latin typeface="Aptos"/>
                <a:ea typeface="Aptos"/>
                <a:cs typeface="Aptos"/>
                <a:sym typeface="Aptos"/>
              </a:rPr>
              <a:t>Bethanie’s behavioural evidence is strong and shows the habits of a reliable, reflective and collaborative marketer.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304039" y="2127642"/>
          <a:ext cx="15423500" cy="5147523"/>
        </p:xfrm>
        <a:graphic>
          <a:graphicData uri="http://schemas.openxmlformats.org/drawingml/2006/table">
            <a:tbl>
              <a:tblPr/>
              <a:tblGrid>
                <a:gridCol w="1439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83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947">
                <a:tc>
                  <a:txBody>
                    <a:bodyPr/>
                    <a:lstStyle/>
                    <a:p>
                      <a:pPr algn="ctr">
                        <a:lnSpc>
                          <a:spcPts val="2155"/>
                        </a:lnSpc>
                        <a:defRPr/>
                      </a:pPr>
                      <a:r>
                        <a:rPr lang="en-US" sz="1796" b="1">
                          <a:solidFill>
                            <a:srgbClr val="083149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Code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55"/>
                        </a:lnSpc>
                        <a:defRPr/>
                      </a:pPr>
                      <a:r>
                        <a:rPr lang="en-US" sz="1796" b="1">
                          <a:solidFill>
                            <a:srgbClr val="083149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Behaviours evidenced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947">
                <a:tc>
                  <a:txBody>
                    <a:bodyPr/>
                    <a:lstStyle/>
                    <a:p>
                      <a:pPr algn="l">
                        <a:lnSpc>
                          <a:spcPts val="2155"/>
                        </a:lnSpc>
                        <a:defRPr/>
                      </a:pPr>
                      <a:r>
                        <a:rPr lang="en-US" sz="1796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B1.1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55"/>
                        </a:lnSpc>
                        <a:defRPr/>
                      </a:pPr>
                      <a:r>
                        <a:rPr lang="en-US" sz="1796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Tenacious and driven to complete projects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947">
                <a:tc>
                  <a:txBody>
                    <a:bodyPr/>
                    <a:lstStyle/>
                    <a:p>
                      <a:pPr algn="l">
                        <a:lnSpc>
                          <a:spcPts val="2155"/>
                        </a:lnSpc>
                        <a:defRPr/>
                      </a:pPr>
                      <a:r>
                        <a:rPr lang="en-US" sz="1796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B1.2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55"/>
                        </a:lnSpc>
                        <a:defRPr/>
                      </a:pPr>
                      <a:r>
                        <a:rPr lang="en-US" sz="1796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Adaptable and self-starting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947">
                <a:tc>
                  <a:txBody>
                    <a:bodyPr/>
                    <a:lstStyle/>
                    <a:p>
                      <a:pPr algn="l">
                        <a:lnSpc>
                          <a:spcPts val="2155"/>
                        </a:lnSpc>
                        <a:defRPr/>
                      </a:pPr>
                      <a:r>
                        <a:rPr lang="en-US" sz="1796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B2.1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55"/>
                        </a:lnSpc>
                        <a:defRPr/>
                      </a:pPr>
                      <a:r>
                        <a:rPr lang="en-US" sz="1796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Willing to think creatively and analytically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947">
                <a:tc>
                  <a:txBody>
                    <a:bodyPr/>
                    <a:lstStyle/>
                    <a:p>
                      <a:pPr algn="l">
                        <a:lnSpc>
                          <a:spcPts val="2155"/>
                        </a:lnSpc>
                        <a:defRPr/>
                      </a:pPr>
                      <a:r>
                        <a:rPr lang="en-US" sz="1796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B2.2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55"/>
                        </a:lnSpc>
                        <a:defRPr/>
                      </a:pPr>
                      <a:r>
                        <a:rPr lang="en-US" sz="1796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Generates ideas and solutions to support delivery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947">
                <a:tc>
                  <a:txBody>
                    <a:bodyPr/>
                    <a:lstStyle/>
                    <a:p>
                      <a:pPr algn="l">
                        <a:lnSpc>
                          <a:spcPts val="2155"/>
                        </a:lnSpc>
                        <a:defRPr/>
                      </a:pPr>
                      <a:r>
                        <a:rPr lang="en-US" sz="1796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B3.1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55"/>
                        </a:lnSpc>
                        <a:defRPr/>
                      </a:pPr>
                      <a:r>
                        <a:rPr lang="en-US" sz="1796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Learns from setbacks and improves performance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947">
                <a:tc>
                  <a:txBody>
                    <a:bodyPr/>
                    <a:lstStyle/>
                    <a:p>
                      <a:pPr algn="l">
                        <a:lnSpc>
                          <a:spcPts val="2155"/>
                        </a:lnSpc>
                        <a:defRPr/>
                      </a:pPr>
                      <a:r>
                        <a:rPr lang="en-US" sz="1796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B4.1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55"/>
                        </a:lnSpc>
                        <a:defRPr/>
                      </a:pPr>
                      <a:r>
                        <a:rPr lang="en-US" sz="1796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Shows professionalism, reliability, and customer passion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947">
                <a:tc>
                  <a:txBody>
                    <a:bodyPr/>
                    <a:lstStyle/>
                    <a:p>
                      <a:pPr algn="l">
                        <a:lnSpc>
                          <a:spcPts val="2155"/>
                        </a:lnSpc>
                        <a:defRPr/>
                      </a:pPr>
                      <a:r>
                        <a:rPr lang="en-US" sz="1796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B4.2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55"/>
                        </a:lnSpc>
                        <a:defRPr/>
                      </a:pPr>
                      <a:r>
                        <a:rPr lang="en-US" sz="1796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Works collaboratively with empathy and consideration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947">
                <a:tc>
                  <a:txBody>
                    <a:bodyPr/>
                    <a:lstStyle/>
                    <a:p>
                      <a:pPr algn="l">
                        <a:lnSpc>
                          <a:spcPts val="2155"/>
                        </a:lnSpc>
                        <a:defRPr/>
                      </a:pPr>
                      <a:r>
                        <a:rPr lang="en-US" sz="1796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B4.3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55"/>
                        </a:lnSpc>
                        <a:defRPr/>
                      </a:pPr>
                      <a:r>
                        <a:rPr lang="en-US" sz="1796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Acts ethically, valuing equality and diversity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2" name="Group 12"/>
          <p:cNvGrpSpPr/>
          <p:nvPr/>
        </p:nvGrpSpPr>
        <p:grpSpPr>
          <a:xfrm>
            <a:off x="1365523" y="7748454"/>
            <a:ext cx="15388228" cy="1043807"/>
            <a:chOff x="0" y="0"/>
            <a:chExt cx="20517637" cy="13917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517613" cy="1391666"/>
            </a:xfrm>
            <a:custGeom>
              <a:avLst/>
              <a:gdLst/>
              <a:ahLst/>
              <a:cxnLst/>
              <a:rect l="l" t="t" r="r" b="b"/>
              <a:pathLst>
                <a:path w="20517613" h="1391666">
                  <a:moveTo>
                    <a:pt x="0" y="231902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20285711" y="0"/>
                  </a:lnTo>
                  <a:cubicBezTo>
                    <a:pt x="20413853" y="0"/>
                    <a:pt x="20517613" y="103886"/>
                    <a:pt x="20517613" y="231902"/>
                  </a:cubicBezTo>
                  <a:lnTo>
                    <a:pt x="20517613" y="1159764"/>
                  </a:lnTo>
                  <a:cubicBezTo>
                    <a:pt x="20517613" y="1287907"/>
                    <a:pt x="20413726" y="1391666"/>
                    <a:pt x="20285711" y="1391666"/>
                  </a:cubicBezTo>
                  <a:lnTo>
                    <a:pt x="231902" y="1391666"/>
                  </a:lnTo>
                  <a:cubicBezTo>
                    <a:pt x="103886" y="1391793"/>
                    <a:pt x="0" y="1287907"/>
                    <a:pt x="0" y="1159764"/>
                  </a:cubicBezTo>
                  <a:close/>
                </a:path>
              </a:pathLst>
            </a:custGeom>
            <a:solidFill>
              <a:srgbClr val="F5F9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715843" y="7988951"/>
            <a:ext cx="1468759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5"/>
              </a:lnSpc>
            </a:pPr>
            <a:r>
              <a:rPr lang="en-US" sz="1779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Evidence row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15843" y="8373304"/>
            <a:ext cx="14687598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4"/>
              </a:lnSpc>
            </a:pPr>
            <a:r>
              <a:rPr lang="en-US" sz="142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K1.1, K1.2, K1.3, K2.1, K2.2, K2.3, K2.4, K3.1, K4.3, S1.1, S1.2, S1.3, S2.1, S2.2, S3.1, S3.2, S5.1, S5.2, S5.3, S6.1, S6.2, B1.1, B1.2, B2.1, B2.2, B3.1, B4.1, B4.2, B4.3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68" y="-8039"/>
            <a:ext cx="18301840" cy="10295039"/>
            <a:chOff x="0" y="0"/>
            <a:chExt cx="24402453" cy="13726719"/>
          </a:xfrm>
        </p:grpSpPr>
        <p:sp>
          <p:nvSpPr>
            <p:cNvPr id="3" name="Freeform 3" descr="kbc_clean_backgroun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233353"/>
            <a:ext cx="2264912" cy="1052436"/>
            <a:chOff x="0" y="0"/>
            <a:chExt cx="3019882" cy="1403248"/>
          </a:xfrm>
        </p:grpSpPr>
        <p:sp>
          <p:nvSpPr>
            <p:cNvPr id="5" name="Freeform 5" descr="kbc_logo_transparent.png"/>
            <p:cNvSpPr/>
            <p:nvPr/>
          </p:nvSpPr>
          <p:spPr>
            <a:xfrm>
              <a:off x="0" y="0"/>
              <a:ext cx="3019933" cy="1403223"/>
            </a:xfrm>
            <a:custGeom>
              <a:avLst/>
              <a:gdLst/>
              <a:ahLst/>
              <a:cxnLst/>
              <a:rect l="l" t="t" r="r" b="b"/>
              <a:pathLst>
                <a:path w="3019933" h="1403223">
                  <a:moveTo>
                    <a:pt x="0" y="0"/>
                  </a:moveTo>
                  <a:lnTo>
                    <a:pt x="3019933" y="0"/>
                  </a:lnTo>
                  <a:lnTo>
                    <a:pt x="3019933" y="1403223"/>
                  </a:lnTo>
                  <a:lnTo>
                    <a:pt x="0" y="140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42568" y="384353"/>
            <a:ext cx="2127647" cy="359035"/>
            <a:chOff x="0" y="0"/>
            <a:chExt cx="2836862" cy="478714"/>
          </a:xfrm>
        </p:grpSpPr>
        <p:sp>
          <p:nvSpPr>
            <p:cNvPr id="7" name="Freeform 7" descr="spinnaker_logo_transparent.png"/>
            <p:cNvSpPr/>
            <p:nvPr/>
          </p:nvSpPr>
          <p:spPr>
            <a:xfrm>
              <a:off x="0" y="0"/>
              <a:ext cx="2836799" cy="478663"/>
            </a:xfrm>
            <a:custGeom>
              <a:avLst/>
              <a:gdLst/>
              <a:ahLst/>
              <a:cxnLst/>
              <a:rect l="l" t="t" r="r" b="b"/>
              <a:pathLst>
                <a:path w="2836799" h="478663">
                  <a:moveTo>
                    <a:pt x="0" y="0"/>
                  </a:moveTo>
                  <a:lnTo>
                    <a:pt x="2836799" y="0"/>
                  </a:lnTo>
                  <a:lnTo>
                    <a:pt x="2836799" y="478663"/>
                  </a:lnTo>
                  <a:lnTo>
                    <a:pt x="0" y="47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46411" y="9855003"/>
            <a:ext cx="16563727" cy="202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>
                <a:solidFill>
                  <a:srgbClr val="626C7D"/>
                </a:solidFill>
                <a:latin typeface="Calibri (MS)"/>
                <a:ea typeface="Calibri (MS)"/>
                <a:cs typeface="Calibri (MS)"/>
                <a:sym typeface="Calibri (MS)"/>
              </a:rPr>
              <a:t>Marketing Executive Level 4 Apprenticeship | Progress Review | Bethanie-Taylor Grenfell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83862" y="741578"/>
            <a:ext cx="11965267" cy="47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KSBs to Strengthen Next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11322" y="1390936"/>
            <a:ext cx="1182800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5"/>
              </a:lnSpc>
            </a:pPr>
            <a:r>
              <a:rPr lang="en-US" sz="1929">
                <a:solidFill>
                  <a:srgbClr val="60696C"/>
                </a:solidFill>
                <a:latin typeface="Aptos"/>
                <a:ea typeface="Aptos"/>
                <a:cs typeface="Aptos"/>
                <a:sym typeface="Aptos"/>
              </a:rPr>
              <a:t>These are not concerns; they are the next evidence-building opportunities to make Bethanie’s portfolio more rounded.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59621" y="2216582"/>
            <a:ext cx="7632630" cy="2416473"/>
            <a:chOff x="0" y="0"/>
            <a:chExt cx="10176840" cy="32219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176764" cy="3221863"/>
            </a:xfrm>
            <a:custGeom>
              <a:avLst/>
              <a:gdLst/>
              <a:ahLst/>
              <a:cxnLst/>
              <a:rect l="l" t="t" r="r" b="b"/>
              <a:pathLst>
                <a:path w="10176764" h="3221863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9639808" y="0"/>
                  </a:lnTo>
                  <a:cubicBezTo>
                    <a:pt x="9936352" y="0"/>
                    <a:pt x="10176764" y="240411"/>
                    <a:pt x="10176764" y="536956"/>
                  </a:cubicBezTo>
                  <a:lnTo>
                    <a:pt x="10176764" y="2684907"/>
                  </a:lnTo>
                  <a:cubicBezTo>
                    <a:pt x="10176764" y="2981452"/>
                    <a:pt x="9936352" y="3221863"/>
                    <a:pt x="9639808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509941" y="2525716"/>
            <a:ext cx="1166774" cy="439255"/>
            <a:chOff x="0" y="0"/>
            <a:chExt cx="1555699" cy="58567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55750" cy="585724"/>
            </a:xfrm>
            <a:custGeom>
              <a:avLst/>
              <a:gdLst/>
              <a:ahLst/>
              <a:cxnLst/>
              <a:rect l="l" t="t" r="r" b="b"/>
              <a:pathLst>
                <a:path w="1555750" h="585724">
                  <a:moveTo>
                    <a:pt x="0" y="97663"/>
                  </a:moveTo>
                  <a:cubicBezTo>
                    <a:pt x="0" y="43688"/>
                    <a:pt x="43688" y="0"/>
                    <a:pt x="97663" y="0"/>
                  </a:cubicBezTo>
                  <a:lnTo>
                    <a:pt x="1458087" y="0"/>
                  </a:lnTo>
                  <a:cubicBezTo>
                    <a:pt x="1511935" y="0"/>
                    <a:pt x="1555750" y="43688"/>
                    <a:pt x="1555750" y="97663"/>
                  </a:cubicBezTo>
                  <a:lnTo>
                    <a:pt x="1555750" y="488061"/>
                  </a:lnTo>
                  <a:cubicBezTo>
                    <a:pt x="1555750" y="541909"/>
                    <a:pt x="1512062" y="585724"/>
                    <a:pt x="1458087" y="585724"/>
                  </a:cubicBezTo>
                  <a:lnTo>
                    <a:pt x="97663" y="585724"/>
                  </a:lnTo>
                  <a:cubicBezTo>
                    <a:pt x="43688" y="585724"/>
                    <a:pt x="0" y="541909"/>
                    <a:pt x="0" y="488061"/>
                  </a:cubicBezTo>
                  <a:close/>
                </a:path>
              </a:pathLst>
            </a:custGeom>
            <a:solidFill>
              <a:srgbClr val="EF6925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509941" y="2539441"/>
            <a:ext cx="1166774" cy="411802"/>
            <a:chOff x="0" y="0"/>
            <a:chExt cx="1555699" cy="54906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5695" cy="549066"/>
            </a:xfrm>
            <a:custGeom>
              <a:avLst/>
              <a:gdLst/>
              <a:ahLst/>
              <a:cxnLst/>
              <a:rect l="l" t="t" r="r" b="b"/>
              <a:pathLst>
                <a:path w="1555695" h="549066">
                  <a:moveTo>
                    <a:pt x="0" y="0"/>
                  </a:moveTo>
                  <a:lnTo>
                    <a:pt x="1555695" y="0"/>
                  </a:lnTo>
                  <a:lnTo>
                    <a:pt x="1555695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207" b="-5208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555699" cy="55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11"/>
                </a:lnSpc>
              </a:pPr>
              <a:r>
                <a:rPr lang="en-US" sz="167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K4.1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882608" y="2525716"/>
            <a:ext cx="5422059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Product development and product/service portfolios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09941" y="3225784"/>
            <a:ext cx="6932000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9"/>
              </a:lnSpc>
            </a:pPr>
            <a:r>
              <a:rPr lang="en-US" sz="179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Evidence idea: map Spinnaker’s services as a portfolio — recruitment, salary benchmarking, conferences, training, associations and leadership development.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395660" y="2216582"/>
            <a:ext cx="7632630" cy="2416473"/>
            <a:chOff x="0" y="0"/>
            <a:chExt cx="10176840" cy="32219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176764" cy="3221863"/>
            </a:xfrm>
            <a:custGeom>
              <a:avLst/>
              <a:gdLst/>
              <a:ahLst/>
              <a:cxnLst/>
              <a:rect l="l" t="t" r="r" b="b"/>
              <a:pathLst>
                <a:path w="10176764" h="3221863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9639808" y="0"/>
                  </a:lnTo>
                  <a:cubicBezTo>
                    <a:pt x="9936352" y="0"/>
                    <a:pt x="10176764" y="240411"/>
                    <a:pt x="10176764" y="536956"/>
                  </a:cubicBezTo>
                  <a:lnTo>
                    <a:pt x="10176764" y="2684907"/>
                  </a:lnTo>
                  <a:cubicBezTo>
                    <a:pt x="10176764" y="2981452"/>
                    <a:pt x="9936352" y="3221863"/>
                    <a:pt x="9639808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9745970" y="2525716"/>
            <a:ext cx="1166774" cy="439255"/>
            <a:chOff x="0" y="0"/>
            <a:chExt cx="1555699" cy="58567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55750" cy="585724"/>
            </a:xfrm>
            <a:custGeom>
              <a:avLst/>
              <a:gdLst/>
              <a:ahLst/>
              <a:cxnLst/>
              <a:rect l="l" t="t" r="r" b="b"/>
              <a:pathLst>
                <a:path w="1555750" h="585724">
                  <a:moveTo>
                    <a:pt x="0" y="97663"/>
                  </a:moveTo>
                  <a:cubicBezTo>
                    <a:pt x="0" y="43688"/>
                    <a:pt x="43688" y="0"/>
                    <a:pt x="97663" y="0"/>
                  </a:cubicBezTo>
                  <a:lnTo>
                    <a:pt x="1458087" y="0"/>
                  </a:lnTo>
                  <a:cubicBezTo>
                    <a:pt x="1511935" y="0"/>
                    <a:pt x="1555750" y="43688"/>
                    <a:pt x="1555750" y="97663"/>
                  </a:cubicBezTo>
                  <a:lnTo>
                    <a:pt x="1555750" y="488061"/>
                  </a:lnTo>
                  <a:cubicBezTo>
                    <a:pt x="1555750" y="541909"/>
                    <a:pt x="1512062" y="585724"/>
                    <a:pt x="1458087" y="585724"/>
                  </a:cubicBezTo>
                  <a:lnTo>
                    <a:pt x="97663" y="585724"/>
                  </a:lnTo>
                  <a:cubicBezTo>
                    <a:pt x="43688" y="585724"/>
                    <a:pt x="0" y="541909"/>
                    <a:pt x="0" y="488061"/>
                  </a:cubicBezTo>
                  <a:close/>
                </a:path>
              </a:pathLst>
            </a:custGeom>
            <a:solidFill>
              <a:srgbClr val="EF6925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745970" y="2539441"/>
            <a:ext cx="1166774" cy="411802"/>
            <a:chOff x="0" y="0"/>
            <a:chExt cx="1555699" cy="54906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55695" cy="549066"/>
            </a:xfrm>
            <a:custGeom>
              <a:avLst/>
              <a:gdLst/>
              <a:ahLst/>
              <a:cxnLst/>
              <a:rect l="l" t="t" r="r" b="b"/>
              <a:pathLst>
                <a:path w="1555695" h="549066">
                  <a:moveTo>
                    <a:pt x="0" y="0"/>
                  </a:moveTo>
                  <a:lnTo>
                    <a:pt x="1555695" y="0"/>
                  </a:lnTo>
                  <a:lnTo>
                    <a:pt x="1555695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207" b="-5208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555699" cy="55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11"/>
                </a:lnSpc>
              </a:pPr>
              <a:r>
                <a:rPr lang="en-US" sz="167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K4.2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118647" y="2525716"/>
            <a:ext cx="5422059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Routes to market and distribution models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45970" y="3225784"/>
            <a:ext cx="6932000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9"/>
              </a:lnSpc>
            </a:pPr>
            <a:r>
              <a:rPr lang="en-US" sz="179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Evidence idea: create a routes-to-market map for LinkedIn, website, email, BD outreach, webinars, events and consultant personal profiles.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159621" y="5305092"/>
            <a:ext cx="7632630" cy="2416473"/>
            <a:chOff x="0" y="0"/>
            <a:chExt cx="10176840" cy="322196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176764" cy="3221863"/>
            </a:xfrm>
            <a:custGeom>
              <a:avLst/>
              <a:gdLst/>
              <a:ahLst/>
              <a:cxnLst/>
              <a:rect l="l" t="t" r="r" b="b"/>
              <a:pathLst>
                <a:path w="10176764" h="3221863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9639808" y="0"/>
                  </a:lnTo>
                  <a:cubicBezTo>
                    <a:pt x="9936352" y="0"/>
                    <a:pt x="10176764" y="240411"/>
                    <a:pt x="10176764" y="536956"/>
                  </a:cubicBezTo>
                  <a:lnTo>
                    <a:pt x="10176764" y="2684907"/>
                  </a:lnTo>
                  <a:cubicBezTo>
                    <a:pt x="10176764" y="2981452"/>
                    <a:pt x="9936352" y="3221863"/>
                    <a:pt x="9639808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509941" y="5614225"/>
            <a:ext cx="1166774" cy="439255"/>
            <a:chOff x="0" y="0"/>
            <a:chExt cx="1555699" cy="58567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55750" cy="585724"/>
            </a:xfrm>
            <a:custGeom>
              <a:avLst/>
              <a:gdLst/>
              <a:ahLst/>
              <a:cxnLst/>
              <a:rect l="l" t="t" r="r" b="b"/>
              <a:pathLst>
                <a:path w="1555750" h="585724">
                  <a:moveTo>
                    <a:pt x="0" y="97663"/>
                  </a:moveTo>
                  <a:cubicBezTo>
                    <a:pt x="0" y="43688"/>
                    <a:pt x="43688" y="0"/>
                    <a:pt x="97663" y="0"/>
                  </a:cubicBezTo>
                  <a:lnTo>
                    <a:pt x="1458087" y="0"/>
                  </a:lnTo>
                  <a:cubicBezTo>
                    <a:pt x="1511935" y="0"/>
                    <a:pt x="1555750" y="43688"/>
                    <a:pt x="1555750" y="97663"/>
                  </a:cubicBezTo>
                  <a:lnTo>
                    <a:pt x="1555750" y="488061"/>
                  </a:lnTo>
                  <a:cubicBezTo>
                    <a:pt x="1555750" y="541909"/>
                    <a:pt x="1512062" y="585724"/>
                    <a:pt x="1458087" y="585724"/>
                  </a:cubicBezTo>
                  <a:lnTo>
                    <a:pt x="97663" y="585724"/>
                  </a:lnTo>
                  <a:cubicBezTo>
                    <a:pt x="43688" y="585724"/>
                    <a:pt x="0" y="541909"/>
                    <a:pt x="0" y="488061"/>
                  </a:cubicBezTo>
                  <a:close/>
                </a:path>
              </a:pathLst>
            </a:custGeom>
            <a:solidFill>
              <a:srgbClr val="0096A5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509941" y="5627951"/>
            <a:ext cx="1166774" cy="411802"/>
            <a:chOff x="0" y="0"/>
            <a:chExt cx="1555699" cy="54906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55695" cy="549066"/>
            </a:xfrm>
            <a:custGeom>
              <a:avLst/>
              <a:gdLst/>
              <a:ahLst/>
              <a:cxnLst/>
              <a:rect l="l" t="t" r="r" b="b"/>
              <a:pathLst>
                <a:path w="1555695" h="549066">
                  <a:moveTo>
                    <a:pt x="0" y="0"/>
                  </a:moveTo>
                  <a:lnTo>
                    <a:pt x="1555695" y="0"/>
                  </a:lnTo>
                  <a:lnTo>
                    <a:pt x="1555695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207" b="-5208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1555699" cy="55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11"/>
                </a:lnSpc>
              </a:pPr>
              <a:r>
                <a:rPr lang="en-US" sz="167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S3.3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882608" y="5614225"/>
            <a:ext cx="5422059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Manage stakeholders and suppliers for outcomes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09941" y="6314294"/>
            <a:ext cx="693200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9"/>
              </a:lnSpc>
            </a:pPr>
            <a:r>
              <a:rPr lang="en-US" sz="179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Evidence idea: use AngelFish, IT, SEO agency, BD, consultants, event partners and sponsors, with meeting notes and witness comments.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9395660" y="5305092"/>
            <a:ext cx="7632630" cy="2416473"/>
            <a:chOff x="0" y="0"/>
            <a:chExt cx="10176840" cy="322196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176764" cy="3221863"/>
            </a:xfrm>
            <a:custGeom>
              <a:avLst/>
              <a:gdLst/>
              <a:ahLst/>
              <a:cxnLst/>
              <a:rect l="l" t="t" r="r" b="b"/>
              <a:pathLst>
                <a:path w="10176764" h="3221863">
                  <a:moveTo>
                    <a:pt x="0" y="536956"/>
                  </a:moveTo>
                  <a:cubicBezTo>
                    <a:pt x="0" y="240411"/>
                    <a:pt x="240411" y="0"/>
                    <a:pt x="536956" y="0"/>
                  </a:cubicBezTo>
                  <a:lnTo>
                    <a:pt x="9639808" y="0"/>
                  </a:lnTo>
                  <a:cubicBezTo>
                    <a:pt x="9936352" y="0"/>
                    <a:pt x="10176764" y="240411"/>
                    <a:pt x="10176764" y="536956"/>
                  </a:cubicBezTo>
                  <a:lnTo>
                    <a:pt x="10176764" y="2684907"/>
                  </a:lnTo>
                  <a:cubicBezTo>
                    <a:pt x="10176764" y="2981452"/>
                    <a:pt x="9936352" y="3221863"/>
                    <a:pt x="9639808" y="3221863"/>
                  </a:cubicBezTo>
                  <a:lnTo>
                    <a:pt x="536956" y="3221863"/>
                  </a:lnTo>
                  <a:cubicBezTo>
                    <a:pt x="240411" y="3221990"/>
                    <a:pt x="0" y="2981579"/>
                    <a:pt x="0" y="26849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8E4FF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9745970" y="5614225"/>
            <a:ext cx="1166774" cy="439255"/>
            <a:chOff x="0" y="0"/>
            <a:chExt cx="1555699" cy="58567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55750" cy="585724"/>
            </a:xfrm>
            <a:custGeom>
              <a:avLst/>
              <a:gdLst/>
              <a:ahLst/>
              <a:cxnLst/>
              <a:rect l="l" t="t" r="r" b="b"/>
              <a:pathLst>
                <a:path w="1555750" h="585724">
                  <a:moveTo>
                    <a:pt x="0" y="97663"/>
                  </a:moveTo>
                  <a:cubicBezTo>
                    <a:pt x="0" y="43688"/>
                    <a:pt x="43688" y="0"/>
                    <a:pt x="97663" y="0"/>
                  </a:cubicBezTo>
                  <a:lnTo>
                    <a:pt x="1458087" y="0"/>
                  </a:lnTo>
                  <a:cubicBezTo>
                    <a:pt x="1511935" y="0"/>
                    <a:pt x="1555750" y="43688"/>
                    <a:pt x="1555750" y="97663"/>
                  </a:cubicBezTo>
                  <a:lnTo>
                    <a:pt x="1555750" y="488061"/>
                  </a:lnTo>
                  <a:cubicBezTo>
                    <a:pt x="1555750" y="541909"/>
                    <a:pt x="1512062" y="585724"/>
                    <a:pt x="1458087" y="585724"/>
                  </a:cubicBezTo>
                  <a:lnTo>
                    <a:pt x="97663" y="585724"/>
                  </a:lnTo>
                  <a:cubicBezTo>
                    <a:pt x="43688" y="585724"/>
                    <a:pt x="0" y="541909"/>
                    <a:pt x="0" y="488061"/>
                  </a:cubicBezTo>
                  <a:close/>
                </a:path>
              </a:pathLst>
            </a:custGeom>
            <a:solidFill>
              <a:srgbClr val="0096A5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9745970" y="5627951"/>
            <a:ext cx="1166774" cy="411802"/>
            <a:chOff x="0" y="0"/>
            <a:chExt cx="1555699" cy="54906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555695" cy="549066"/>
            </a:xfrm>
            <a:custGeom>
              <a:avLst/>
              <a:gdLst/>
              <a:ahLst/>
              <a:cxnLst/>
              <a:rect l="l" t="t" r="r" b="b"/>
              <a:pathLst>
                <a:path w="1555695" h="549066">
                  <a:moveTo>
                    <a:pt x="0" y="0"/>
                  </a:moveTo>
                  <a:lnTo>
                    <a:pt x="1555695" y="0"/>
                  </a:lnTo>
                  <a:lnTo>
                    <a:pt x="1555695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207" b="-5208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1555699" cy="5585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11"/>
                </a:lnSpc>
              </a:pPr>
              <a:r>
                <a:rPr lang="en-US" sz="167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S4.1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118647" y="5614225"/>
            <a:ext cx="5422059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 b="1">
                <a:solidFill>
                  <a:srgbClr val="083149"/>
                </a:solidFill>
                <a:latin typeface="Aptos Bold"/>
                <a:ea typeface="Aptos Bold"/>
                <a:cs typeface="Aptos Bold"/>
                <a:sym typeface="Aptos Bold"/>
              </a:rPr>
              <a:t>Monitor project budgets using appropriate controls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745970" y="6314294"/>
            <a:ext cx="6932000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9"/>
              </a:lnSpc>
            </a:pPr>
            <a:r>
              <a:rPr lang="en-US" sz="1791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Evidence idea: build a simple campaign or event budget tracker showing planned vs actual spend, sponsorship pricing and ROI indicators.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2813980" y="8785108"/>
            <a:ext cx="12697216" cy="466706"/>
            <a:chOff x="0" y="0"/>
            <a:chExt cx="16929621" cy="62227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6929608" cy="622300"/>
            </a:xfrm>
            <a:custGeom>
              <a:avLst/>
              <a:gdLst/>
              <a:ahLst/>
              <a:cxnLst/>
              <a:rect l="l" t="t" r="r" b="b"/>
              <a:pathLst>
                <a:path w="16929608" h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16825849" y="0"/>
                  </a:lnTo>
                  <a:cubicBezTo>
                    <a:pt x="16883126" y="0"/>
                    <a:pt x="16929608" y="46482"/>
                    <a:pt x="16929608" y="103759"/>
                  </a:cubicBezTo>
                  <a:lnTo>
                    <a:pt x="16929608" y="518541"/>
                  </a:lnTo>
                  <a:cubicBezTo>
                    <a:pt x="16929608" y="575818"/>
                    <a:pt x="16883126" y="622300"/>
                    <a:pt x="16825849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083149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2813980" y="8798833"/>
            <a:ext cx="12697216" cy="439255"/>
            <a:chOff x="0" y="0"/>
            <a:chExt cx="16929621" cy="58567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6929626" cy="585674"/>
            </a:xfrm>
            <a:custGeom>
              <a:avLst/>
              <a:gdLst/>
              <a:ahLst/>
              <a:cxnLst/>
              <a:rect l="l" t="t" r="r" b="b"/>
              <a:pathLst>
                <a:path w="16929626" h="585674">
                  <a:moveTo>
                    <a:pt x="0" y="0"/>
                  </a:moveTo>
                  <a:lnTo>
                    <a:pt x="16929626" y="0"/>
                  </a:lnTo>
                  <a:lnTo>
                    <a:pt x="1692962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13238" b="-513238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16929621" cy="5856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35"/>
                </a:lnSpc>
              </a:pPr>
              <a:r>
                <a:rPr lang="en-US" sz="144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Suggested manager decision: assign one live campaign where Bethanie can own budget, supplier and route-to-market evidence.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68" y="-31330"/>
            <a:ext cx="18301840" cy="10295039"/>
            <a:chOff x="0" y="0"/>
            <a:chExt cx="24402453" cy="13726719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233353"/>
            <a:ext cx="2264912" cy="1052436"/>
            <a:chOff x="0" y="0"/>
            <a:chExt cx="3019882" cy="1403248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3019933" cy="1403223"/>
            </a:xfrm>
            <a:custGeom>
              <a:avLst/>
              <a:gdLst/>
              <a:ahLst/>
              <a:cxnLst/>
              <a:rect l="l" t="t" r="r" b="b"/>
              <a:pathLst>
                <a:path w="3019933" h="1403223">
                  <a:moveTo>
                    <a:pt x="0" y="0"/>
                  </a:moveTo>
                  <a:lnTo>
                    <a:pt x="3019933" y="0"/>
                  </a:lnTo>
                  <a:lnTo>
                    <a:pt x="3019933" y="1403223"/>
                  </a:lnTo>
                  <a:lnTo>
                    <a:pt x="0" y="140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42568" y="384353"/>
            <a:ext cx="2127647" cy="359035"/>
            <a:chOff x="0" y="0"/>
            <a:chExt cx="2836862" cy="478714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836799" cy="478663"/>
            </a:xfrm>
            <a:custGeom>
              <a:avLst/>
              <a:gdLst/>
              <a:ahLst/>
              <a:cxnLst/>
              <a:rect l="l" t="t" r="r" b="b"/>
              <a:pathLst>
                <a:path w="2836799" h="478663">
                  <a:moveTo>
                    <a:pt x="0" y="0"/>
                  </a:moveTo>
                  <a:lnTo>
                    <a:pt x="2836799" y="0"/>
                  </a:lnTo>
                  <a:lnTo>
                    <a:pt x="2836799" y="478663"/>
                  </a:lnTo>
                  <a:lnTo>
                    <a:pt x="0" y="47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047286" y="723290"/>
            <a:ext cx="12038419" cy="51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Next Actions: Learning Evidence Opportunities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74746" y="1372648"/>
            <a:ext cx="11901154" cy="384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5"/>
              </a:lnSpc>
            </a:pPr>
            <a:r>
              <a:rPr lang="en-US" sz="1529">
                <a:solidFill>
                  <a:srgbClr val="60696C"/>
                </a:solidFill>
                <a:latin typeface="Aptos"/>
                <a:ea typeface="Aptos"/>
                <a:cs typeface="Aptos"/>
                <a:sym typeface="Aptos"/>
              </a:rPr>
              <a:t>This is a learning and evidence-planning conversation, not a performance concern.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9835" y="9855765"/>
            <a:ext cx="16636879" cy="21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4"/>
              </a:lnSpc>
            </a:pPr>
            <a:r>
              <a:rPr lang="en-US" sz="870">
                <a:solidFill>
                  <a:srgbClr val="787878"/>
                </a:solidFill>
                <a:latin typeface="Aptos"/>
                <a:ea typeface="Aptos"/>
                <a:cs typeface="Aptos"/>
                <a:sym typeface="Aptos"/>
              </a:rPr>
              <a:t>Marketing Executive Level 4 Apprenticeship | Progress Review | Bethanie-Taylor Grenfell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19975" y="2255377"/>
            <a:ext cx="5029324" cy="6401991"/>
            <a:chOff x="0" y="0"/>
            <a:chExt cx="6705765" cy="85359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05600" cy="8535924"/>
            </a:xfrm>
            <a:custGeom>
              <a:avLst/>
              <a:gdLst/>
              <a:ahLst/>
              <a:cxnLst/>
              <a:rect l="l" t="t" r="r" b="b"/>
              <a:pathLst>
                <a:path w="6705600" h="8535924">
                  <a:moveTo>
                    <a:pt x="0" y="1117600"/>
                  </a:moveTo>
                  <a:cubicBezTo>
                    <a:pt x="0" y="500380"/>
                    <a:pt x="500380" y="0"/>
                    <a:pt x="1117600" y="0"/>
                  </a:cubicBezTo>
                  <a:lnTo>
                    <a:pt x="5588000" y="0"/>
                  </a:lnTo>
                  <a:cubicBezTo>
                    <a:pt x="6205220" y="0"/>
                    <a:pt x="6705600" y="500380"/>
                    <a:pt x="6705600" y="1117600"/>
                  </a:cubicBezTo>
                  <a:lnTo>
                    <a:pt x="6705600" y="7418324"/>
                  </a:lnTo>
                  <a:cubicBezTo>
                    <a:pt x="6705600" y="8035544"/>
                    <a:pt x="6205220" y="8535924"/>
                    <a:pt x="5588000" y="8535924"/>
                  </a:cubicBezTo>
                  <a:lnTo>
                    <a:pt x="1117600" y="8535924"/>
                  </a:lnTo>
                  <a:cubicBezTo>
                    <a:pt x="500380" y="8535924"/>
                    <a:pt x="0" y="8035544"/>
                    <a:pt x="0" y="741832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1E4EB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372676" y="2553167"/>
            <a:ext cx="2608078" cy="466709"/>
            <a:chOff x="0" y="0"/>
            <a:chExt cx="3477438" cy="62227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477514" cy="622304"/>
            </a:xfrm>
            <a:custGeom>
              <a:avLst/>
              <a:gdLst/>
              <a:ahLst/>
              <a:cxnLst/>
              <a:rect l="l" t="t" r="r" b="b"/>
              <a:pathLst>
                <a:path w="3477514" h="622304">
                  <a:moveTo>
                    <a:pt x="0" y="103760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3373755" y="0"/>
                  </a:lnTo>
                  <a:cubicBezTo>
                    <a:pt x="3431032" y="0"/>
                    <a:pt x="3477514" y="46482"/>
                    <a:pt x="3477514" y="103760"/>
                  </a:cubicBezTo>
                  <a:lnTo>
                    <a:pt x="3477514" y="518544"/>
                  </a:lnTo>
                  <a:cubicBezTo>
                    <a:pt x="3477514" y="575821"/>
                    <a:pt x="3431032" y="622304"/>
                    <a:pt x="3373755" y="622304"/>
                  </a:cubicBezTo>
                  <a:lnTo>
                    <a:pt x="103759" y="622304"/>
                  </a:lnTo>
                  <a:cubicBezTo>
                    <a:pt x="46482" y="622304"/>
                    <a:pt x="0" y="575821"/>
                    <a:pt x="0" y="518544"/>
                  </a:cubicBezTo>
                  <a:close/>
                </a:path>
              </a:pathLst>
            </a:custGeom>
            <a:solidFill>
              <a:srgbClr val="F2722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3477438" cy="622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5"/>
                </a:lnSpc>
              </a:pPr>
              <a:r>
                <a:rPr lang="en-US" sz="1879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KSB gaps to close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413767" y="3257750"/>
            <a:ext cx="4241730" cy="28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451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Focus areas</a:t>
            </a:r>
          </a:p>
          <a:p>
            <a:pPr algn="l">
              <a:lnSpc>
                <a:spcPts val="2483"/>
              </a:lnSpc>
            </a:pPr>
            <a:r>
              <a:rPr lang="en-US" sz="197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K4.1 Product development and product/service portfolios</a:t>
            </a:r>
          </a:p>
          <a:p>
            <a:pPr algn="l">
              <a:lnSpc>
                <a:spcPts val="2483"/>
              </a:lnSpc>
            </a:pPr>
            <a:r>
              <a:rPr lang="en-US" sz="197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K4.2 Routes to market and distribution models</a:t>
            </a:r>
          </a:p>
          <a:p>
            <a:pPr algn="l">
              <a:lnSpc>
                <a:spcPts val="2483"/>
              </a:lnSpc>
            </a:pPr>
            <a:r>
              <a:rPr lang="en-US" sz="197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S3.3 Manage stakeholders and suppliers for outcomes</a:t>
            </a:r>
          </a:p>
          <a:p>
            <a:pPr algn="l">
              <a:lnSpc>
                <a:spcPts val="2483"/>
              </a:lnSpc>
            </a:pPr>
            <a:r>
              <a:rPr lang="en-US" sz="197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S4.1 Monitor project budgets using appropriate controls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3767" y="7252230"/>
            <a:ext cx="4241730" cy="127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2301" b="1">
                <a:solidFill>
                  <a:srgbClr val="00A660"/>
                </a:solidFill>
                <a:latin typeface="Aptos Bold"/>
                <a:ea typeface="Aptos Bold"/>
                <a:cs typeface="Aptos Bold"/>
                <a:sym typeface="Aptos Bold"/>
              </a:rPr>
              <a:t>Learning message</a:t>
            </a:r>
          </a:p>
          <a:p>
            <a:pPr algn="l">
              <a:lnSpc>
                <a:spcPts val="2521"/>
              </a:lnSpc>
            </a:pPr>
            <a:r>
              <a:rPr lang="en-US" sz="200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Treat these as portfolio-building opportunities from live work, not extra tasks.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510661" y="2255377"/>
            <a:ext cx="5303853" cy="6401991"/>
            <a:chOff x="0" y="0"/>
            <a:chExt cx="7071804" cy="85359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071868" cy="8536051"/>
            </a:xfrm>
            <a:custGeom>
              <a:avLst/>
              <a:gdLst/>
              <a:ahLst/>
              <a:cxnLst/>
              <a:rect l="l" t="t" r="r" b="b"/>
              <a:pathLst>
                <a:path w="7071868" h="8536051">
                  <a:moveTo>
                    <a:pt x="0" y="1178687"/>
                  </a:moveTo>
                  <a:cubicBezTo>
                    <a:pt x="0" y="527685"/>
                    <a:pt x="527685" y="0"/>
                    <a:pt x="1178687" y="0"/>
                  </a:cubicBezTo>
                  <a:lnTo>
                    <a:pt x="5893181" y="0"/>
                  </a:lnTo>
                  <a:cubicBezTo>
                    <a:pt x="6544183" y="0"/>
                    <a:pt x="7071868" y="527685"/>
                    <a:pt x="7071868" y="1178687"/>
                  </a:cubicBezTo>
                  <a:lnTo>
                    <a:pt x="7071868" y="7357364"/>
                  </a:lnTo>
                  <a:cubicBezTo>
                    <a:pt x="7071868" y="8008366"/>
                    <a:pt x="6544183" y="8536051"/>
                    <a:pt x="5893181" y="8536051"/>
                  </a:cubicBezTo>
                  <a:lnTo>
                    <a:pt x="1178687" y="8536051"/>
                  </a:lnTo>
                  <a:cubicBezTo>
                    <a:pt x="527685" y="8536051"/>
                    <a:pt x="0" y="8008239"/>
                    <a:pt x="0" y="735736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1E4EB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863363" y="2553167"/>
            <a:ext cx="3019882" cy="466709"/>
            <a:chOff x="0" y="0"/>
            <a:chExt cx="4026510" cy="62227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6535" cy="622304"/>
            </a:xfrm>
            <a:custGeom>
              <a:avLst/>
              <a:gdLst/>
              <a:ahLst/>
              <a:cxnLst/>
              <a:rect l="l" t="t" r="r" b="b"/>
              <a:pathLst>
                <a:path w="4026535" h="622304">
                  <a:moveTo>
                    <a:pt x="0" y="103760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3922776" y="0"/>
                  </a:lnTo>
                  <a:cubicBezTo>
                    <a:pt x="3980053" y="0"/>
                    <a:pt x="4026535" y="46482"/>
                    <a:pt x="4026535" y="103760"/>
                  </a:cubicBezTo>
                  <a:lnTo>
                    <a:pt x="4026535" y="518544"/>
                  </a:lnTo>
                  <a:cubicBezTo>
                    <a:pt x="4026535" y="575821"/>
                    <a:pt x="3980053" y="622304"/>
                    <a:pt x="3922776" y="622304"/>
                  </a:cubicBezTo>
                  <a:lnTo>
                    <a:pt x="103759" y="622304"/>
                  </a:lnTo>
                  <a:cubicBezTo>
                    <a:pt x="46482" y="622304"/>
                    <a:pt x="0" y="575821"/>
                    <a:pt x="0" y="518544"/>
                  </a:cubicBezTo>
                  <a:close/>
                </a:path>
              </a:pathLst>
            </a:custGeom>
            <a:solidFill>
              <a:srgbClr val="0099A6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4026510" cy="622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5"/>
                </a:lnSpc>
              </a:pPr>
              <a:r>
                <a:rPr lang="en-US" sz="1879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Open project prompts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904453" y="3257750"/>
            <a:ext cx="4516260" cy="371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451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For Bethanie and Helen</a:t>
            </a:r>
          </a:p>
          <a:p>
            <a:pPr algn="l">
              <a:lnSpc>
                <a:spcPts val="2445"/>
              </a:lnSpc>
            </a:pPr>
            <a:r>
              <a:rPr lang="en-US" sz="194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Which upcoming projects can Bethanie contribute to meaningfully?</a:t>
            </a:r>
          </a:p>
          <a:p>
            <a:pPr algn="l">
              <a:lnSpc>
                <a:spcPts val="2445"/>
              </a:lnSpc>
            </a:pPr>
            <a:r>
              <a:rPr lang="en-US" sz="194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Where can she own a clear task from planning through to evaluation?</a:t>
            </a:r>
          </a:p>
          <a:p>
            <a:pPr algn="l">
              <a:lnSpc>
                <a:spcPts val="2445"/>
              </a:lnSpc>
            </a:pPr>
            <a:r>
              <a:rPr lang="en-US" sz="194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Can she support a budget, supplier, route-to-market or service-portfolio decision?</a:t>
            </a:r>
          </a:p>
          <a:p>
            <a:pPr algn="l">
              <a:lnSpc>
                <a:spcPts val="2445"/>
              </a:lnSpc>
            </a:pPr>
            <a:r>
              <a:rPr lang="en-US" sz="194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Which outputs would be genuinely useful to Spinnaker?</a:t>
            </a:r>
          </a:p>
          <a:p>
            <a:pPr algn="l">
              <a:lnSpc>
                <a:spcPts val="2445"/>
              </a:lnSpc>
            </a:pPr>
            <a:r>
              <a:rPr lang="en-US" sz="194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Who can verify her personal contribution and impact?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275887" y="2255377"/>
            <a:ext cx="5029324" cy="6401991"/>
            <a:chOff x="0" y="0"/>
            <a:chExt cx="6705765" cy="85359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705600" cy="8535924"/>
            </a:xfrm>
            <a:custGeom>
              <a:avLst/>
              <a:gdLst/>
              <a:ahLst/>
              <a:cxnLst/>
              <a:rect l="l" t="t" r="r" b="b"/>
              <a:pathLst>
                <a:path w="6705600" h="8535924">
                  <a:moveTo>
                    <a:pt x="0" y="1117600"/>
                  </a:moveTo>
                  <a:cubicBezTo>
                    <a:pt x="0" y="500380"/>
                    <a:pt x="500380" y="0"/>
                    <a:pt x="1117600" y="0"/>
                  </a:cubicBezTo>
                  <a:lnTo>
                    <a:pt x="5588000" y="0"/>
                  </a:lnTo>
                  <a:cubicBezTo>
                    <a:pt x="6205220" y="0"/>
                    <a:pt x="6705600" y="500380"/>
                    <a:pt x="6705600" y="1117600"/>
                  </a:cubicBezTo>
                  <a:lnTo>
                    <a:pt x="6705600" y="7418324"/>
                  </a:lnTo>
                  <a:cubicBezTo>
                    <a:pt x="6705600" y="8035544"/>
                    <a:pt x="6205220" y="8535924"/>
                    <a:pt x="5588000" y="8535924"/>
                  </a:cubicBezTo>
                  <a:lnTo>
                    <a:pt x="1117600" y="8535924"/>
                  </a:lnTo>
                  <a:cubicBezTo>
                    <a:pt x="500380" y="8535924"/>
                    <a:pt x="0" y="8035544"/>
                    <a:pt x="0" y="741832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1E4EB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2628588" y="2553167"/>
            <a:ext cx="2402176" cy="466709"/>
            <a:chOff x="0" y="0"/>
            <a:chExt cx="3202902" cy="62227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202940" cy="622304"/>
            </a:xfrm>
            <a:custGeom>
              <a:avLst/>
              <a:gdLst/>
              <a:ahLst/>
              <a:cxnLst/>
              <a:rect l="l" t="t" r="r" b="b"/>
              <a:pathLst>
                <a:path w="3202940" h="622304">
                  <a:moveTo>
                    <a:pt x="0" y="103760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3099181" y="0"/>
                  </a:lnTo>
                  <a:cubicBezTo>
                    <a:pt x="3156458" y="0"/>
                    <a:pt x="3202940" y="46482"/>
                    <a:pt x="3202940" y="103760"/>
                  </a:cubicBezTo>
                  <a:lnTo>
                    <a:pt x="3202940" y="518544"/>
                  </a:lnTo>
                  <a:cubicBezTo>
                    <a:pt x="3202940" y="575821"/>
                    <a:pt x="3156458" y="622304"/>
                    <a:pt x="3099181" y="622304"/>
                  </a:cubicBezTo>
                  <a:lnTo>
                    <a:pt x="103759" y="622304"/>
                  </a:lnTo>
                  <a:cubicBezTo>
                    <a:pt x="46482" y="622304"/>
                    <a:pt x="0" y="575821"/>
                    <a:pt x="0" y="518544"/>
                  </a:cubicBezTo>
                  <a:close/>
                </a:path>
              </a:pathLst>
            </a:custGeom>
            <a:solidFill>
              <a:srgbClr val="624DCD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3202902" cy="622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5"/>
                </a:lnSpc>
              </a:pPr>
              <a:r>
                <a:rPr lang="en-US" sz="1879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Aptem evidence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2669679" y="3257750"/>
            <a:ext cx="4241730" cy="439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451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Evidence Bethanie can upload</a:t>
            </a:r>
          </a:p>
          <a:p>
            <a:pPr algn="l">
              <a:lnSpc>
                <a:spcPts val="2445"/>
              </a:lnSpc>
            </a:pPr>
            <a:r>
              <a:rPr lang="en-US" sz="194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Project brief or mini-plan with objectives</a:t>
            </a:r>
          </a:p>
          <a:p>
            <a:pPr algn="l">
              <a:lnSpc>
                <a:spcPts val="2445"/>
              </a:lnSpc>
            </a:pPr>
            <a:r>
              <a:rPr lang="en-US" sz="194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Service portfolio or product/service map</a:t>
            </a:r>
          </a:p>
          <a:p>
            <a:pPr algn="l">
              <a:lnSpc>
                <a:spcPts val="2445"/>
              </a:lnSpc>
            </a:pPr>
            <a:r>
              <a:rPr lang="en-US" sz="194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Routes-to-market or channel distribution map</a:t>
            </a:r>
          </a:p>
          <a:p>
            <a:pPr algn="l">
              <a:lnSpc>
                <a:spcPts val="2445"/>
              </a:lnSpc>
            </a:pPr>
            <a:r>
              <a:rPr lang="en-US" sz="194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Stakeholder/supplier log with outcomes</a:t>
            </a:r>
          </a:p>
          <a:p>
            <a:pPr algn="l">
              <a:lnSpc>
                <a:spcPts val="2445"/>
              </a:lnSpc>
            </a:pPr>
            <a:r>
              <a:rPr lang="en-US" sz="194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Simple budget tracker: planned vs actual</a:t>
            </a:r>
          </a:p>
          <a:p>
            <a:pPr algn="l">
              <a:lnSpc>
                <a:spcPts val="2445"/>
              </a:lnSpc>
            </a:pPr>
            <a:r>
              <a:rPr lang="en-US" sz="194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Reflection: learning, application and business impact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990373" y="8991000"/>
            <a:ext cx="14275794" cy="494162"/>
            <a:chOff x="0" y="0"/>
            <a:chExt cx="19034392" cy="65888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034379" cy="658870"/>
            </a:xfrm>
            <a:custGeom>
              <a:avLst/>
              <a:gdLst/>
              <a:ahLst/>
              <a:cxnLst/>
              <a:rect l="l" t="t" r="r" b="b"/>
              <a:pathLst>
                <a:path w="19034379" h="658870">
                  <a:moveTo>
                    <a:pt x="0" y="109854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18924524" y="0"/>
                  </a:lnTo>
                  <a:cubicBezTo>
                    <a:pt x="18985230" y="0"/>
                    <a:pt x="19034379" y="49149"/>
                    <a:pt x="19034379" y="109854"/>
                  </a:cubicBezTo>
                  <a:lnTo>
                    <a:pt x="19034379" y="549016"/>
                  </a:lnTo>
                  <a:cubicBezTo>
                    <a:pt x="19034379" y="609721"/>
                    <a:pt x="18985230" y="658870"/>
                    <a:pt x="18924524" y="658870"/>
                  </a:cubicBezTo>
                  <a:lnTo>
                    <a:pt x="109855" y="658870"/>
                  </a:lnTo>
                  <a:cubicBezTo>
                    <a:pt x="49149" y="658870"/>
                    <a:pt x="0" y="609721"/>
                    <a:pt x="0" y="549016"/>
                  </a:cubicBezTo>
                  <a:close/>
                </a:path>
              </a:pathLst>
            </a:custGeom>
            <a:solidFill>
              <a:srgbClr val="002D40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19034392" cy="658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1"/>
                </a:lnSpc>
              </a:pPr>
              <a:r>
                <a:rPr lang="en-US" sz="177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Decision today: agree 1-2 live learning projects, Bethanie’s role, evidence owner and upload deadline.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646" y="-8039"/>
            <a:ext cx="18301840" cy="10295039"/>
            <a:chOff x="0" y="0"/>
            <a:chExt cx="24402453" cy="13726719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233353"/>
            <a:ext cx="2264912" cy="1052436"/>
            <a:chOff x="0" y="0"/>
            <a:chExt cx="3019882" cy="1403248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3019933" cy="1403223"/>
            </a:xfrm>
            <a:custGeom>
              <a:avLst/>
              <a:gdLst/>
              <a:ahLst/>
              <a:cxnLst/>
              <a:rect l="l" t="t" r="r" b="b"/>
              <a:pathLst>
                <a:path w="3019933" h="1403223">
                  <a:moveTo>
                    <a:pt x="0" y="0"/>
                  </a:moveTo>
                  <a:lnTo>
                    <a:pt x="3019933" y="0"/>
                  </a:lnTo>
                  <a:lnTo>
                    <a:pt x="3019933" y="1403223"/>
                  </a:lnTo>
                  <a:lnTo>
                    <a:pt x="0" y="140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42568" y="384353"/>
            <a:ext cx="2127647" cy="359035"/>
            <a:chOff x="0" y="0"/>
            <a:chExt cx="2836862" cy="478714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836799" cy="478663"/>
            </a:xfrm>
            <a:custGeom>
              <a:avLst/>
              <a:gdLst/>
              <a:ahLst/>
              <a:cxnLst/>
              <a:rect l="l" t="t" r="r" b="b"/>
              <a:pathLst>
                <a:path w="2836799" h="478663">
                  <a:moveTo>
                    <a:pt x="0" y="0"/>
                  </a:moveTo>
                  <a:lnTo>
                    <a:pt x="2836799" y="0"/>
                  </a:lnTo>
                  <a:lnTo>
                    <a:pt x="2836799" y="478663"/>
                  </a:lnTo>
                  <a:lnTo>
                    <a:pt x="0" y="47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047286" y="723290"/>
            <a:ext cx="12038419" cy="51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Professional Responsibilities &amp; EPA Brief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74746" y="1372648"/>
            <a:ext cx="11901154" cy="384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5"/>
              </a:lnSpc>
            </a:pPr>
            <a:r>
              <a:rPr lang="en-US" sz="1529">
                <a:solidFill>
                  <a:srgbClr val="60696C"/>
                </a:solidFill>
                <a:latin typeface="Aptos"/>
                <a:ea typeface="Aptos"/>
                <a:cs typeface="Aptos"/>
                <a:sym typeface="Aptos"/>
              </a:rPr>
              <a:t>A short reminder before closing: safeguarding, British Values and what EPA evidence needs to prove.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9835" y="9855765"/>
            <a:ext cx="16636879" cy="21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4"/>
              </a:lnSpc>
            </a:pPr>
            <a:r>
              <a:rPr lang="en-US" sz="870">
                <a:solidFill>
                  <a:srgbClr val="787878"/>
                </a:solidFill>
                <a:latin typeface="Aptos"/>
                <a:ea typeface="Aptos"/>
                <a:cs typeface="Aptos"/>
                <a:sym typeface="Aptos"/>
              </a:rPr>
              <a:t>Marketing Executive Level 4 Apprenticeship | Progress Review | Bethanie-Taylor Grenfell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19975" y="2214201"/>
            <a:ext cx="5235216" cy="6539255"/>
            <a:chOff x="0" y="0"/>
            <a:chExt cx="6980288" cy="87190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0301" cy="8719058"/>
            </a:xfrm>
            <a:custGeom>
              <a:avLst/>
              <a:gdLst/>
              <a:ahLst/>
              <a:cxnLst/>
              <a:rect l="l" t="t" r="r" b="b"/>
              <a:pathLst>
                <a:path w="6980301" h="8719058">
                  <a:moveTo>
                    <a:pt x="0" y="1163447"/>
                  </a:moveTo>
                  <a:cubicBezTo>
                    <a:pt x="0" y="520827"/>
                    <a:pt x="520827" y="0"/>
                    <a:pt x="1163447" y="0"/>
                  </a:cubicBezTo>
                  <a:lnTo>
                    <a:pt x="5816854" y="0"/>
                  </a:lnTo>
                  <a:cubicBezTo>
                    <a:pt x="6459347" y="0"/>
                    <a:pt x="6980301" y="520827"/>
                    <a:pt x="6980301" y="1163447"/>
                  </a:cubicBezTo>
                  <a:lnTo>
                    <a:pt x="6980301" y="7555611"/>
                  </a:lnTo>
                  <a:cubicBezTo>
                    <a:pt x="6980301" y="8198104"/>
                    <a:pt x="6459474" y="8719058"/>
                    <a:pt x="5816854" y="8719058"/>
                  </a:cubicBezTo>
                  <a:lnTo>
                    <a:pt x="1163447" y="8719058"/>
                  </a:lnTo>
                  <a:cubicBezTo>
                    <a:pt x="520827" y="8719058"/>
                    <a:pt x="0" y="8198104"/>
                    <a:pt x="0" y="755561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1E4EB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372676" y="2511990"/>
            <a:ext cx="1990373" cy="466709"/>
            <a:chOff x="0" y="0"/>
            <a:chExt cx="2653830" cy="62227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653919" cy="622304"/>
            </a:xfrm>
            <a:custGeom>
              <a:avLst/>
              <a:gdLst/>
              <a:ahLst/>
              <a:cxnLst/>
              <a:rect l="l" t="t" r="r" b="b"/>
              <a:pathLst>
                <a:path w="2653919" h="622304">
                  <a:moveTo>
                    <a:pt x="0" y="103760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2550160" y="0"/>
                  </a:lnTo>
                  <a:cubicBezTo>
                    <a:pt x="2607437" y="0"/>
                    <a:pt x="2653919" y="46482"/>
                    <a:pt x="2653919" y="103760"/>
                  </a:cubicBezTo>
                  <a:lnTo>
                    <a:pt x="2653919" y="518544"/>
                  </a:lnTo>
                  <a:cubicBezTo>
                    <a:pt x="2653919" y="575821"/>
                    <a:pt x="2607437" y="622304"/>
                    <a:pt x="2550160" y="622304"/>
                  </a:cubicBezTo>
                  <a:lnTo>
                    <a:pt x="103759" y="622304"/>
                  </a:lnTo>
                  <a:cubicBezTo>
                    <a:pt x="46482" y="622304"/>
                    <a:pt x="0" y="575821"/>
                    <a:pt x="0" y="518544"/>
                  </a:cubicBezTo>
                  <a:close/>
                </a:path>
              </a:pathLst>
            </a:custGeom>
            <a:solidFill>
              <a:srgbClr val="F2722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653830" cy="622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5"/>
                </a:lnSpc>
              </a:pPr>
              <a:r>
                <a:rPr lang="en-US" sz="1979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Safeguarding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454944" y="3230299"/>
            <a:ext cx="4378995" cy="3935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1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Workplace reminder</a:t>
            </a:r>
          </a:p>
          <a:p>
            <a:pPr algn="l">
              <a:lnSpc>
                <a:spcPts val="2609"/>
              </a:lnSpc>
            </a:pPr>
            <a:r>
              <a:rPr lang="en-US" sz="207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Protect everyone’s right to learn and work safely, free from abuse, neglect or exploitation.</a:t>
            </a:r>
          </a:p>
          <a:p>
            <a:pPr algn="l">
              <a:lnSpc>
                <a:spcPts val="2609"/>
              </a:lnSpc>
            </a:pPr>
            <a:r>
              <a:rPr lang="en-US" sz="207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Use the 5 Rs: Recognise, Respond, Report, Record and Refer.</a:t>
            </a:r>
          </a:p>
          <a:p>
            <a:pPr algn="l">
              <a:lnSpc>
                <a:spcPts val="2609"/>
              </a:lnSpc>
            </a:pPr>
            <a:r>
              <a:rPr lang="en-US" sz="207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Raise concerns early with the appropriate manager, safeguarding lead or college contact.</a:t>
            </a:r>
          </a:p>
          <a:p>
            <a:pPr algn="l">
              <a:lnSpc>
                <a:spcPts val="2609"/>
              </a:lnSpc>
            </a:pPr>
            <a:r>
              <a:rPr lang="en-US" sz="207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In marketing work, keep data, AI use, photos, consent and wellbeing considerations safe and professional.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551838" y="2214201"/>
            <a:ext cx="5235216" cy="6539255"/>
            <a:chOff x="0" y="0"/>
            <a:chExt cx="6980288" cy="871900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80301" cy="8719058"/>
            </a:xfrm>
            <a:custGeom>
              <a:avLst/>
              <a:gdLst/>
              <a:ahLst/>
              <a:cxnLst/>
              <a:rect l="l" t="t" r="r" b="b"/>
              <a:pathLst>
                <a:path w="6980301" h="8719058">
                  <a:moveTo>
                    <a:pt x="0" y="1163447"/>
                  </a:moveTo>
                  <a:cubicBezTo>
                    <a:pt x="0" y="520827"/>
                    <a:pt x="520827" y="0"/>
                    <a:pt x="1163447" y="0"/>
                  </a:cubicBezTo>
                  <a:lnTo>
                    <a:pt x="5816854" y="0"/>
                  </a:lnTo>
                  <a:cubicBezTo>
                    <a:pt x="6459347" y="0"/>
                    <a:pt x="6980301" y="520827"/>
                    <a:pt x="6980301" y="1163447"/>
                  </a:cubicBezTo>
                  <a:lnTo>
                    <a:pt x="6980301" y="7555611"/>
                  </a:lnTo>
                  <a:cubicBezTo>
                    <a:pt x="6980301" y="8198104"/>
                    <a:pt x="6459474" y="8719058"/>
                    <a:pt x="5816854" y="8719058"/>
                  </a:cubicBezTo>
                  <a:lnTo>
                    <a:pt x="1163447" y="8719058"/>
                  </a:lnTo>
                  <a:cubicBezTo>
                    <a:pt x="520827" y="8719058"/>
                    <a:pt x="0" y="8198104"/>
                    <a:pt x="0" y="755561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1E4EB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904539" y="2511990"/>
            <a:ext cx="2127647" cy="466709"/>
            <a:chOff x="0" y="0"/>
            <a:chExt cx="2836862" cy="62227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836926" cy="622304"/>
            </a:xfrm>
            <a:custGeom>
              <a:avLst/>
              <a:gdLst/>
              <a:ahLst/>
              <a:cxnLst/>
              <a:rect l="l" t="t" r="r" b="b"/>
              <a:pathLst>
                <a:path w="2836926" h="622304">
                  <a:moveTo>
                    <a:pt x="0" y="103760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2733167" y="0"/>
                  </a:lnTo>
                  <a:cubicBezTo>
                    <a:pt x="2790444" y="0"/>
                    <a:pt x="2836926" y="46482"/>
                    <a:pt x="2836926" y="103760"/>
                  </a:cubicBezTo>
                  <a:lnTo>
                    <a:pt x="2836926" y="518544"/>
                  </a:lnTo>
                  <a:cubicBezTo>
                    <a:pt x="2836926" y="575821"/>
                    <a:pt x="2790444" y="622304"/>
                    <a:pt x="2733167" y="622304"/>
                  </a:cubicBezTo>
                  <a:lnTo>
                    <a:pt x="103759" y="622304"/>
                  </a:lnTo>
                  <a:cubicBezTo>
                    <a:pt x="46482" y="622304"/>
                    <a:pt x="0" y="575821"/>
                    <a:pt x="0" y="518544"/>
                  </a:cubicBezTo>
                  <a:close/>
                </a:path>
              </a:pathLst>
            </a:custGeom>
            <a:solidFill>
              <a:srgbClr val="0099A6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2836862" cy="622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5"/>
                </a:lnSpc>
              </a:pPr>
              <a:r>
                <a:rPr lang="en-US" sz="1979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British Values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973091" y="3230299"/>
            <a:ext cx="4378995" cy="4259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1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What this looks like here</a:t>
            </a:r>
          </a:p>
          <a:p>
            <a:pPr algn="l">
              <a:lnSpc>
                <a:spcPts val="2609"/>
              </a:lnSpc>
            </a:pPr>
            <a:r>
              <a:rPr lang="en-US" sz="207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Democracy: encourage voice, challenge and feedback in campaigns and meetings.</a:t>
            </a:r>
          </a:p>
          <a:p>
            <a:pPr algn="l">
              <a:lnSpc>
                <a:spcPts val="2609"/>
              </a:lnSpc>
            </a:pPr>
            <a:r>
              <a:rPr lang="en-US" sz="207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Rule of law: follow GDPR, advertising rules and company policies.</a:t>
            </a:r>
          </a:p>
          <a:p>
            <a:pPr algn="l">
              <a:lnSpc>
                <a:spcPts val="2609"/>
              </a:lnSpc>
            </a:pPr>
            <a:r>
              <a:rPr lang="en-US" sz="207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Individual liberty: support professional choice and responsible decision-making.</a:t>
            </a:r>
          </a:p>
          <a:p>
            <a:pPr algn="l">
              <a:lnSpc>
                <a:spcPts val="2609"/>
              </a:lnSpc>
            </a:pPr>
            <a:r>
              <a:rPr lang="en-US" sz="207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Mutual respect and tolerance: inclusive language, accessible content and respectful stakeholder communication.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097436" y="2214201"/>
            <a:ext cx="5235216" cy="6539255"/>
            <a:chOff x="0" y="0"/>
            <a:chExt cx="6980288" cy="871900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980301" cy="8719058"/>
            </a:xfrm>
            <a:custGeom>
              <a:avLst/>
              <a:gdLst/>
              <a:ahLst/>
              <a:cxnLst/>
              <a:rect l="l" t="t" r="r" b="b"/>
              <a:pathLst>
                <a:path w="6980301" h="8719058">
                  <a:moveTo>
                    <a:pt x="0" y="1163447"/>
                  </a:moveTo>
                  <a:cubicBezTo>
                    <a:pt x="0" y="520827"/>
                    <a:pt x="520827" y="0"/>
                    <a:pt x="1163447" y="0"/>
                  </a:cubicBezTo>
                  <a:lnTo>
                    <a:pt x="5816854" y="0"/>
                  </a:lnTo>
                  <a:cubicBezTo>
                    <a:pt x="6459347" y="0"/>
                    <a:pt x="6980301" y="520827"/>
                    <a:pt x="6980301" y="1163447"/>
                  </a:cubicBezTo>
                  <a:lnTo>
                    <a:pt x="6980301" y="7555611"/>
                  </a:lnTo>
                  <a:cubicBezTo>
                    <a:pt x="6980301" y="8198104"/>
                    <a:pt x="6459474" y="8719058"/>
                    <a:pt x="5816854" y="8719058"/>
                  </a:cubicBezTo>
                  <a:lnTo>
                    <a:pt x="1163447" y="8719058"/>
                  </a:lnTo>
                  <a:cubicBezTo>
                    <a:pt x="520827" y="8719058"/>
                    <a:pt x="0" y="8198104"/>
                    <a:pt x="0" y="755561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1E4EB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2450137" y="2511990"/>
            <a:ext cx="1853108" cy="466709"/>
            <a:chOff x="0" y="0"/>
            <a:chExt cx="2470810" cy="62227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470912" cy="622304"/>
            </a:xfrm>
            <a:custGeom>
              <a:avLst/>
              <a:gdLst/>
              <a:ahLst/>
              <a:cxnLst/>
              <a:rect l="l" t="t" r="r" b="b"/>
              <a:pathLst>
                <a:path w="2470912" h="622304">
                  <a:moveTo>
                    <a:pt x="0" y="103760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2367153" y="0"/>
                  </a:lnTo>
                  <a:cubicBezTo>
                    <a:pt x="2424430" y="0"/>
                    <a:pt x="2470912" y="46482"/>
                    <a:pt x="2470912" y="103760"/>
                  </a:cubicBezTo>
                  <a:lnTo>
                    <a:pt x="2470912" y="518544"/>
                  </a:lnTo>
                  <a:cubicBezTo>
                    <a:pt x="2470912" y="575821"/>
                    <a:pt x="2424430" y="622304"/>
                    <a:pt x="2367153" y="622304"/>
                  </a:cubicBezTo>
                  <a:lnTo>
                    <a:pt x="103759" y="622304"/>
                  </a:lnTo>
                  <a:cubicBezTo>
                    <a:pt x="46482" y="622304"/>
                    <a:pt x="0" y="575821"/>
                    <a:pt x="0" y="518544"/>
                  </a:cubicBezTo>
                  <a:close/>
                </a:path>
              </a:pathLst>
            </a:custGeom>
            <a:solidFill>
              <a:srgbClr val="624DC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2470810" cy="622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5"/>
                </a:lnSpc>
              </a:pPr>
              <a:r>
                <a:rPr lang="en-US" sz="1979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EPA in brief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518688" y="3230299"/>
            <a:ext cx="4378995" cy="4259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551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Assessment route</a:t>
            </a:r>
          </a:p>
          <a:p>
            <a:pPr algn="l">
              <a:lnSpc>
                <a:spcPts val="2609"/>
              </a:lnSpc>
            </a:pPr>
            <a:r>
              <a:rPr lang="en-US" sz="207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Multiple Choice Test: 50 questions, 90 minutes.</a:t>
            </a:r>
          </a:p>
          <a:p>
            <a:pPr algn="l">
              <a:lnSpc>
                <a:spcPts val="2609"/>
              </a:lnSpc>
            </a:pPr>
            <a:r>
              <a:rPr lang="en-US" sz="207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Project Showcase: work-based project report, then presentation and Q&amp;A.</a:t>
            </a:r>
          </a:p>
          <a:p>
            <a:pPr algn="l">
              <a:lnSpc>
                <a:spcPts val="2609"/>
              </a:lnSpc>
            </a:pPr>
            <a:r>
              <a:rPr lang="en-US" sz="207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Professional Discussion: evidence-rich examples of KSBs achieved in role.</a:t>
            </a:r>
          </a:p>
          <a:p>
            <a:pPr algn="l">
              <a:lnSpc>
                <a:spcPts val="2609"/>
              </a:lnSpc>
            </a:pPr>
            <a:r>
              <a:rPr lang="en-US" sz="207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• Project evidence should be workplace-based, mapped to KSBs, measured where possible and verified by the employer.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853108" y="8991000"/>
            <a:ext cx="14618960" cy="494162"/>
            <a:chOff x="0" y="0"/>
            <a:chExt cx="19491947" cy="65888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9491961" cy="658870"/>
            </a:xfrm>
            <a:custGeom>
              <a:avLst/>
              <a:gdLst/>
              <a:ahLst/>
              <a:cxnLst/>
              <a:rect l="l" t="t" r="r" b="b"/>
              <a:pathLst>
                <a:path w="19491961" h="658870">
                  <a:moveTo>
                    <a:pt x="0" y="109854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19382105" y="0"/>
                  </a:lnTo>
                  <a:cubicBezTo>
                    <a:pt x="19442812" y="0"/>
                    <a:pt x="19491961" y="49149"/>
                    <a:pt x="19491961" y="109854"/>
                  </a:cubicBezTo>
                  <a:lnTo>
                    <a:pt x="19491961" y="549016"/>
                  </a:lnTo>
                  <a:cubicBezTo>
                    <a:pt x="19491961" y="609721"/>
                    <a:pt x="19442812" y="658870"/>
                    <a:pt x="19382105" y="658870"/>
                  </a:cubicBezTo>
                  <a:lnTo>
                    <a:pt x="109855" y="658870"/>
                  </a:lnTo>
                  <a:cubicBezTo>
                    <a:pt x="49149" y="658870"/>
                    <a:pt x="0" y="609721"/>
                    <a:pt x="0" y="549016"/>
                  </a:cubicBezTo>
                  <a:close/>
                </a:path>
              </a:pathLst>
            </a:custGeom>
            <a:solidFill>
              <a:srgbClr val="002D40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19491947" cy="658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3"/>
                </a:lnSpc>
              </a:pPr>
              <a:r>
                <a:rPr lang="en-US" sz="186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Keep it practical: every strong EPA example should show context, Bethanie’s action, evidence, outcome and reflection.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4425" y="9535"/>
            <a:ext cx="18301840" cy="10295039"/>
            <a:chOff x="0" y="0"/>
            <a:chExt cx="24402453" cy="13726719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7" b="-92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0431" y="233353"/>
            <a:ext cx="2264912" cy="1052436"/>
            <a:chOff x="0" y="0"/>
            <a:chExt cx="3019882" cy="1403248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3019933" cy="1403223"/>
            </a:xfrm>
            <a:custGeom>
              <a:avLst/>
              <a:gdLst/>
              <a:ahLst/>
              <a:cxnLst/>
              <a:rect l="l" t="t" r="r" b="b"/>
              <a:pathLst>
                <a:path w="3019933" h="1403223">
                  <a:moveTo>
                    <a:pt x="0" y="0"/>
                  </a:moveTo>
                  <a:lnTo>
                    <a:pt x="3019933" y="0"/>
                  </a:lnTo>
                  <a:lnTo>
                    <a:pt x="3019933" y="1403223"/>
                  </a:lnTo>
                  <a:lnTo>
                    <a:pt x="0" y="140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42568" y="384353"/>
            <a:ext cx="2127647" cy="359035"/>
            <a:chOff x="0" y="0"/>
            <a:chExt cx="2836862" cy="478714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836799" cy="478663"/>
            </a:xfrm>
            <a:custGeom>
              <a:avLst/>
              <a:gdLst/>
              <a:ahLst/>
              <a:cxnLst/>
              <a:rect l="l" t="t" r="r" b="b"/>
              <a:pathLst>
                <a:path w="2836799" h="478663">
                  <a:moveTo>
                    <a:pt x="0" y="0"/>
                  </a:moveTo>
                  <a:lnTo>
                    <a:pt x="2836799" y="0"/>
                  </a:lnTo>
                  <a:lnTo>
                    <a:pt x="2836799" y="478663"/>
                  </a:lnTo>
                  <a:lnTo>
                    <a:pt x="0" y="478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047286" y="723290"/>
            <a:ext cx="12038419" cy="51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002D40"/>
                </a:solidFill>
                <a:latin typeface="Aptos Bold"/>
                <a:ea typeface="Aptos Bold"/>
                <a:cs typeface="Aptos Bold"/>
                <a:sym typeface="Aptos Bold"/>
              </a:rPr>
              <a:t>Manager Questions: Workplace Impact Check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74746" y="1372648"/>
            <a:ext cx="1190115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2029">
                <a:solidFill>
                  <a:srgbClr val="60696C"/>
                </a:solidFill>
                <a:latin typeface="Aptos"/>
                <a:ea typeface="Aptos"/>
                <a:cs typeface="Aptos"/>
                <a:sym typeface="Aptos"/>
              </a:rPr>
              <a:t>Helen’s feedback will help measure programme impact on Bethanie’s work, confidence and EPA readiness.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9835" y="9855765"/>
            <a:ext cx="16636879" cy="21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4"/>
              </a:lnSpc>
            </a:pPr>
            <a:r>
              <a:rPr lang="en-US" sz="870">
                <a:solidFill>
                  <a:srgbClr val="787878"/>
                </a:solidFill>
                <a:latin typeface="Aptos"/>
                <a:ea typeface="Aptos"/>
                <a:cs typeface="Aptos"/>
                <a:sym typeface="Aptos"/>
              </a:rPr>
              <a:t>Marketing Executive Level 4 Apprenticeship | Progress Review | Bethanie-Taylor Grenfell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78789" y="2049475"/>
            <a:ext cx="10657275" cy="6882432"/>
            <a:chOff x="0" y="0"/>
            <a:chExt cx="14209700" cy="91765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209649" cy="9176512"/>
            </a:xfrm>
            <a:custGeom>
              <a:avLst/>
              <a:gdLst/>
              <a:ahLst/>
              <a:cxnLst/>
              <a:rect l="l" t="t" r="r" b="b"/>
              <a:pathLst>
                <a:path w="14209649" h="9176512">
                  <a:moveTo>
                    <a:pt x="0" y="1529461"/>
                  </a:moveTo>
                  <a:cubicBezTo>
                    <a:pt x="0" y="684784"/>
                    <a:pt x="684784" y="0"/>
                    <a:pt x="1529461" y="0"/>
                  </a:cubicBezTo>
                  <a:lnTo>
                    <a:pt x="12680188" y="0"/>
                  </a:lnTo>
                  <a:cubicBezTo>
                    <a:pt x="13524864" y="0"/>
                    <a:pt x="14209649" y="684784"/>
                    <a:pt x="14209649" y="1529461"/>
                  </a:cubicBezTo>
                  <a:lnTo>
                    <a:pt x="14209649" y="7647051"/>
                  </a:lnTo>
                  <a:cubicBezTo>
                    <a:pt x="14209649" y="8491728"/>
                    <a:pt x="13524864" y="9176512"/>
                    <a:pt x="12680188" y="9176512"/>
                  </a:cubicBezTo>
                  <a:lnTo>
                    <a:pt x="1529461" y="9176512"/>
                  </a:lnTo>
                  <a:cubicBezTo>
                    <a:pt x="684784" y="9176512"/>
                    <a:pt x="0" y="8491855"/>
                    <a:pt x="0" y="764705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1E4EB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372676" y="2361000"/>
            <a:ext cx="3774853" cy="494162"/>
            <a:chOff x="0" y="0"/>
            <a:chExt cx="5033137" cy="65888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033137" cy="658870"/>
            </a:xfrm>
            <a:custGeom>
              <a:avLst/>
              <a:gdLst/>
              <a:ahLst/>
              <a:cxnLst/>
              <a:rect l="l" t="t" r="r" b="b"/>
              <a:pathLst>
                <a:path w="5033137" h="658870">
                  <a:moveTo>
                    <a:pt x="0" y="109854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4923282" y="0"/>
                  </a:lnTo>
                  <a:cubicBezTo>
                    <a:pt x="4983988" y="0"/>
                    <a:pt x="5033137" y="49149"/>
                    <a:pt x="5033137" y="109854"/>
                  </a:cubicBezTo>
                  <a:lnTo>
                    <a:pt x="5033137" y="549016"/>
                  </a:lnTo>
                  <a:cubicBezTo>
                    <a:pt x="5033137" y="609721"/>
                    <a:pt x="4983988" y="658870"/>
                    <a:pt x="4923282" y="658870"/>
                  </a:cubicBezTo>
                  <a:lnTo>
                    <a:pt x="109855" y="658870"/>
                  </a:lnTo>
                  <a:cubicBezTo>
                    <a:pt x="49149" y="658870"/>
                    <a:pt x="0" y="609721"/>
                    <a:pt x="0" y="549016"/>
                  </a:cubicBezTo>
                  <a:close/>
                </a:path>
              </a:pathLst>
            </a:custGeom>
            <a:solidFill>
              <a:srgbClr val="002D4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5033137" cy="658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93"/>
                </a:lnSpc>
              </a:pPr>
              <a:r>
                <a:rPr lang="en-US" sz="191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Questions for Helen McCaughran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436656" y="3083528"/>
            <a:ext cx="9563090" cy="5458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2"/>
              </a:lnSpc>
            </a:pPr>
            <a:r>
              <a:rPr lang="en-US" sz="2454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1. What improvements have you seen in Bethanie’s confidence, independence or marketing judgement?</a:t>
            </a:r>
          </a:p>
          <a:p>
            <a:pPr algn="l">
              <a:lnSpc>
                <a:spcPts val="3092"/>
              </a:lnSpc>
            </a:pPr>
            <a:r>
              <a:rPr lang="en-US" sz="2454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2. Where has she added the clearest value: quality, efficiency, engagement, commercial results or risk reduction?</a:t>
            </a:r>
          </a:p>
          <a:p>
            <a:pPr algn="l">
              <a:lnSpc>
                <a:spcPts val="3092"/>
              </a:lnSpc>
            </a:pPr>
            <a:r>
              <a:rPr lang="en-US" sz="2454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3. Have you seen stronger use of data, insight, planning or evaluation in her marketing work?</a:t>
            </a:r>
          </a:p>
          <a:p>
            <a:pPr algn="l">
              <a:lnSpc>
                <a:spcPts val="3092"/>
              </a:lnSpc>
            </a:pPr>
            <a:r>
              <a:rPr lang="en-US" sz="2454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4. Which examples best show applied learning rather than routine activity?</a:t>
            </a:r>
          </a:p>
          <a:p>
            <a:pPr algn="l">
              <a:lnSpc>
                <a:spcPts val="3092"/>
              </a:lnSpc>
            </a:pPr>
            <a:r>
              <a:rPr lang="en-US" sz="2454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5. Which future projects should she contribute to in order to evidence K4.1, K4.2, S3.3 and S4.1?</a:t>
            </a:r>
          </a:p>
          <a:p>
            <a:pPr algn="l">
              <a:lnSpc>
                <a:spcPts val="3092"/>
              </a:lnSpc>
            </a:pPr>
            <a:r>
              <a:rPr lang="en-US" sz="2454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6. What evidence can you verify or sign off for Aptem and EPA?</a:t>
            </a:r>
          </a:p>
          <a:p>
            <a:pPr algn="l">
              <a:lnSpc>
                <a:spcPts val="3092"/>
              </a:lnSpc>
            </a:pPr>
            <a:r>
              <a:rPr lang="en-US" sz="2454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7. What support, exposure or autonomy would help her progress towards gateway?</a:t>
            </a:r>
          </a:p>
          <a:p>
            <a:pPr algn="l">
              <a:lnSpc>
                <a:spcPts val="3092"/>
              </a:lnSpc>
            </a:pPr>
            <a:r>
              <a:rPr lang="en-US" sz="2454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8. Are there any concerns or barriers we should address early?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042534" y="2049475"/>
            <a:ext cx="5262677" cy="3107579"/>
            <a:chOff x="0" y="0"/>
            <a:chExt cx="7016902" cy="414343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016877" cy="4143502"/>
            </a:xfrm>
            <a:custGeom>
              <a:avLst/>
              <a:gdLst/>
              <a:ahLst/>
              <a:cxnLst/>
              <a:rect l="l" t="t" r="r" b="b"/>
              <a:pathLst>
                <a:path w="7016877" h="4143502">
                  <a:moveTo>
                    <a:pt x="0" y="690626"/>
                  </a:moveTo>
                  <a:cubicBezTo>
                    <a:pt x="0" y="309245"/>
                    <a:pt x="309245" y="0"/>
                    <a:pt x="690626" y="0"/>
                  </a:cubicBezTo>
                  <a:lnTo>
                    <a:pt x="6326251" y="0"/>
                  </a:lnTo>
                  <a:cubicBezTo>
                    <a:pt x="6707632" y="0"/>
                    <a:pt x="7016877" y="309245"/>
                    <a:pt x="7016877" y="690626"/>
                  </a:cubicBezTo>
                  <a:lnTo>
                    <a:pt x="7016877" y="3452876"/>
                  </a:lnTo>
                  <a:cubicBezTo>
                    <a:pt x="7016877" y="3834257"/>
                    <a:pt x="6707632" y="4143502"/>
                    <a:pt x="6326251" y="4143502"/>
                  </a:cubicBezTo>
                  <a:lnTo>
                    <a:pt x="690626" y="4143502"/>
                  </a:lnTo>
                  <a:cubicBezTo>
                    <a:pt x="309245" y="4143375"/>
                    <a:pt x="0" y="3834257"/>
                    <a:pt x="0" y="345287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1E4EB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2422686" y="2361000"/>
            <a:ext cx="2127647" cy="466709"/>
            <a:chOff x="0" y="0"/>
            <a:chExt cx="2836862" cy="62227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836926" cy="622304"/>
            </a:xfrm>
            <a:custGeom>
              <a:avLst/>
              <a:gdLst/>
              <a:ahLst/>
              <a:cxnLst/>
              <a:rect l="l" t="t" r="r" b="b"/>
              <a:pathLst>
                <a:path w="2836926" h="622304">
                  <a:moveTo>
                    <a:pt x="0" y="103760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2733167" y="0"/>
                  </a:lnTo>
                  <a:cubicBezTo>
                    <a:pt x="2790444" y="0"/>
                    <a:pt x="2836926" y="46482"/>
                    <a:pt x="2836926" y="103760"/>
                  </a:cubicBezTo>
                  <a:lnTo>
                    <a:pt x="2836926" y="518544"/>
                  </a:lnTo>
                  <a:cubicBezTo>
                    <a:pt x="2836926" y="575821"/>
                    <a:pt x="2790444" y="622304"/>
                    <a:pt x="2733167" y="622304"/>
                  </a:cubicBezTo>
                  <a:lnTo>
                    <a:pt x="103759" y="622304"/>
                  </a:lnTo>
                  <a:cubicBezTo>
                    <a:pt x="46482" y="622304"/>
                    <a:pt x="0" y="575821"/>
                    <a:pt x="0" y="518544"/>
                  </a:cubicBezTo>
                  <a:close/>
                </a:path>
              </a:pathLst>
            </a:custGeom>
            <a:solidFill>
              <a:srgbClr val="0099A6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2836862" cy="622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5"/>
                </a:lnSpc>
              </a:pPr>
              <a:r>
                <a:rPr lang="en-US" sz="1879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Manager notes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477550" y="3074765"/>
            <a:ext cx="435145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3"/>
              </a:lnSpc>
            </a:pPr>
            <a:r>
              <a:rPr lang="en-US" sz="166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Impact observed:</a:t>
            </a:r>
          </a:p>
          <a:p>
            <a:pPr algn="l">
              <a:lnSpc>
                <a:spcPts val="3362"/>
              </a:lnSpc>
            </a:pPr>
            <a:endParaRPr lang="en-US" sz="1661">
              <a:solidFill>
                <a:srgbClr val="23292F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1993"/>
              </a:lnSpc>
            </a:pPr>
            <a:r>
              <a:rPr lang="en-US" sz="166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Improvements noticed:</a:t>
            </a:r>
          </a:p>
          <a:p>
            <a:pPr algn="l">
              <a:lnSpc>
                <a:spcPts val="3362"/>
              </a:lnSpc>
            </a:pPr>
            <a:endParaRPr lang="en-US" sz="1661">
              <a:solidFill>
                <a:srgbClr val="23292F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1993"/>
              </a:lnSpc>
            </a:pPr>
            <a:r>
              <a:rPr lang="en-US" sz="1661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Support agreed: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042534" y="5549789"/>
            <a:ext cx="5262677" cy="3382108"/>
            <a:chOff x="0" y="0"/>
            <a:chExt cx="7016902" cy="450947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016877" cy="4509516"/>
            </a:xfrm>
            <a:custGeom>
              <a:avLst/>
              <a:gdLst/>
              <a:ahLst/>
              <a:cxnLst/>
              <a:rect l="l" t="t" r="r" b="b"/>
              <a:pathLst>
                <a:path w="7016877" h="4509516">
                  <a:moveTo>
                    <a:pt x="0" y="751586"/>
                  </a:moveTo>
                  <a:cubicBezTo>
                    <a:pt x="0" y="336550"/>
                    <a:pt x="336550" y="0"/>
                    <a:pt x="751586" y="0"/>
                  </a:cubicBezTo>
                  <a:lnTo>
                    <a:pt x="6265291" y="0"/>
                  </a:lnTo>
                  <a:cubicBezTo>
                    <a:pt x="6680327" y="0"/>
                    <a:pt x="7016877" y="336550"/>
                    <a:pt x="7016877" y="751586"/>
                  </a:cubicBezTo>
                  <a:lnTo>
                    <a:pt x="7016877" y="3757930"/>
                  </a:lnTo>
                  <a:cubicBezTo>
                    <a:pt x="7016877" y="4172966"/>
                    <a:pt x="6680327" y="4509516"/>
                    <a:pt x="6265291" y="4509516"/>
                  </a:cubicBezTo>
                  <a:lnTo>
                    <a:pt x="751586" y="4509516"/>
                  </a:lnTo>
                  <a:cubicBezTo>
                    <a:pt x="336550" y="4509516"/>
                    <a:pt x="0" y="4172966"/>
                    <a:pt x="0" y="375793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1E4EB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2422686" y="5861314"/>
            <a:ext cx="3019882" cy="466709"/>
            <a:chOff x="0" y="0"/>
            <a:chExt cx="4026510" cy="62227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026535" cy="622304"/>
            </a:xfrm>
            <a:custGeom>
              <a:avLst/>
              <a:gdLst/>
              <a:ahLst/>
              <a:cxnLst/>
              <a:rect l="l" t="t" r="r" b="b"/>
              <a:pathLst>
                <a:path w="4026535" h="622304">
                  <a:moveTo>
                    <a:pt x="0" y="103760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3922776" y="0"/>
                  </a:lnTo>
                  <a:cubicBezTo>
                    <a:pt x="3980053" y="0"/>
                    <a:pt x="4026535" y="46482"/>
                    <a:pt x="4026535" y="103760"/>
                  </a:cubicBezTo>
                  <a:lnTo>
                    <a:pt x="4026535" y="518544"/>
                  </a:lnTo>
                  <a:cubicBezTo>
                    <a:pt x="4026535" y="575821"/>
                    <a:pt x="3980053" y="622304"/>
                    <a:pt x="3922776" y="622304"/>
                  </a:cubicBezTo>
                  <a:lnTo>
                    <a:pt x="103759" y="622304"/>
                  </a:lnTo>
                  <a:cubicBezTo>
                    <a:pt x="46482" y="622304"/>
                    <a:pt x="0" y="575821"/>
                    <a:pt x="0" y="518544"/>
                  </a:cubicBezTo>
                  <a:close/>
                </a:path>
              </a:pathLst>
            </a:custGeom>
            <a:solidFill>
              <a:srgbClr val="F27223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4026510" cy="622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5"/>
                </a:lnSpc>
              </a:pPr>
              <a:r>
                <a:rPr lang="en-US" sz="1879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Agreed evidence project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477550" y="6547628"/>
            <a:ext cx="4351458" cy="220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9"/>
              </a:lnSpc>
            </a:pPr>
            <a:r>
              <a:rPr lang="en-US" sz="1616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Project / activity:</a:t>
            </a:r>
          </a:p>
          <a:p>
            <a:pPr algn="l">
              <a:lnSpc>
                <a:spcPts val="3362"/>
              </a:lnSpc>
            </a:pPr>
            <a:endParaRPr lang="en-US" sz="1616">
              <a:solidFill>
                <a:srgbClr val="23292F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1939"/>
              </a:lnSpc>
            </a:pPr>
            <a:r>
              <a:rPr lang="en-US" sz="1616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Bethanie’s role:</a:t>
            </a:r>
          </a:p>
          <a:p>
            <a:pPr algn="l">
              <a:lnSpc>
                <a:spcPts val="3362"/>
              </a:lnSpc>
            </a:pPr>
            <a:endParaRPr lang="en-US" sz="1616">
              <a:solidFill>
                <a:srgbClr val="23292F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1939"/>
              </a:lnSpc>
            </a:pPr>
            <a:r>
              <a:rPr lang="en-US" sz="1616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Evidence to upload:</a:t>
            </a:r>
          </a:p>
          <a:p>
            <a:pPr algn="l">
              <a:lnSpc>
                <a:spcPts val="3362"/>
              </a:lnSpc>
            </a:pPr>
            <a:endParaRPr lang="en-US" sz="1616">
              <a:solidFill>
                <a:srgbClr val="23292F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1939"/>
              </a:lnSpc>
            </a:pPr>
            <a:r>
              <a:rPr lang="en-US" sz="1616">
                <a:solidFill>
                  <a:srgbClr val="23292F"/>
                </a:solidFill>
                <a:latin typeface="Aptos"/>
                <a:ea typeface="Aptos"/>
                <a:cs typeface="Aptos"/>
                <a:sym typeface="Aptos"/>
              </a:rPr>
              <a:t>Review date: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715843" y="9128274"/>
            <a:ext cx="14824862" cy="494162"/>
            <a:chOff x="0" y="0"/>
            <a:chExt cx="19766483" cy="65888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9766535" cy="658870"/>
            </a:xfrm>
            <a:custGeom>
              <a:avLst/>
              <a:gdLst/>
              <a:ahLst/>
              <a:cxnLst/>
              <a:rect l="l" t="t" r="r" b="b"/>
              <a:pathLst>
                <a:path w="19766535" h="658870">
                  <a:moveTo>
                    <a:pt x="0" y="109854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19656679" y="0"/>
                  </a:lnTo>
                  <a:cubicBezTo>
                    <a:pt x="19717386" y="0"/>
                    <a:pt x="19766535" y="49149"/>
                    <a:pt x="19766535" y="109854"/>
                  </a:cubicBezTo>
                  <a:lnTo>
                    <a:pt x="19766535" y="549016"/>
                  </a:lnTo>
                  <a:cubicBezTo>
                    <a:pt x="19766535" y="609721"/>
                    <a:pt x="19717386" y="658870"/>
                    <a:pt x="19656679" y="658870"/>
                  </a:cubicBezTo>
                  <a:lnTo>
                    <a:pt x="109855" y="658870"/>
                  </a:lnTo>
                  <a:cubicBezTo>
                    <a:pt x="49149" y="658870"/>
                    <a:pt x="0" y="609721"/>
                    <a:pt x="0" y="549016"/>
                  </a:cubicBezTo>
                  <a:close/>
                </a:path>
              </a:pathLst>
            </a:custGeom>
            <a:solidFill>
              <a:srgbClr val="002D40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19766483" cy="658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1"/>
                </a:lnSpc>
              </a:pPr>
              <a:r>
                <a:rPr lang="en-US" sz="197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Q/A: agree the next workplace learning opportunity and the evidence Bethanie will submit on Aptem.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8678</TotalTime>
  <Words>3093</Words>
  <Application>Microsoft Office PowerPoint</Application>
  <PresentationFormat>Custom</PresentationFormat>
  <Paragraphs>388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 Bold</vt:lpstr>
      <vt:lpstr>Aptos</vt:lpstr>
      <vt:lpstr>Arial</vt:lpstr>
      <vt:lpstr>Calibri</vt:lpstr>
      <vt:lpstr>Calibri (MS)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Bethanie_Taylor_Grenfell_Progress_Review_Spinnaker_v2.pptx</dc:title>
  <cp:lastModifiedBy>AHMED HAMAMO</cp:lastModifiedBy>
  <cp:revision>4</cp:revision>
  <dcterms:created xsi:type="dcterms:W3CDTF">2006-08-16T00:00:00Z</dcterms:created>
  <dcterms:modified xsi:type="dcterms:W3CDTF">2026-09-10T14:15:49Z</dcterms:modified>
  <dc:identifier>DAHOsUPKiq8</dc:identifier>
</cp:coreProperties>
</file>